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1"/>
  </p:sldMasterIdLst>
  <p:notesMasterIdLst>
    <p:notesMasterId r:id="rId3"/>
  </p:notesMasterIdLst>
  <p:sldIdLst>
    <p:sldId id="259" r:id="rId2"/>
  </p:sldIdLst>
  <p:sldSz cx="38404800" cy="33375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94"/>
  </p:normalViewPr>
  <p:slideViewPr>
    <p:cSldViewPr snapToGrid="0">
      <p:cViewPr>
        <p:scale>
          <a:sx n="36" d="100"/>
          <a:sy n="36" d="100"/>
        </p:scale>
        <p:origin x="-864"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CD770-E025-7142-B8CA-2E6007E3BF9A}" type="datetimeFigureOut">
              <a:rPr lang="en-US" smtClean="0"/>
              <a:t>3/31/26</a:t>
            </a:fld>
            <a:endParaRPr lang="en-US"/>
          </a:p>
        </p:txBody>
      </p:sp>
      <p:sp>
        <p:nvSpPr>
          <p:cNvPr id="4" name="Slide Image Placeholder 3"/>
          <p:cNvSpPr>
            <a:spLocks noGrp="1" noRot="1" noChangeAspect="1"/>
          </p:cNvSpPr>
          <p:nvPr>
            <p:ph type="sldImg" idx="2"/>
          </p:nvPr>
        </p:nvSpPr>
        <p:spPr>
          <a:xfrm>
            <a:off x="1654175" y="1143000"/>
            <a:ext cx="35496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E0992F-C9C3-854F-A5A0-34CD40A240CB}" type="slidenum">
              <a:rPr lang="en-US" smtClean="0"/>
              <a:t>‹#›</a:t>
            </a:fld>
            <a:endParaRPr lang="en-US"/>
          </a:p>
        </p:txBody>
      </p:sp>
    </p:spTree>
    <p:extLst>
      <p:ext uri="{BB962C8B-B14F-4D97-AF65-F5344CB8AC3E}">
        <p14:creationId xmlns:p14="http://schemas.microsoft.com/office/powerpoint/2010/main" val="2600788812"/>
      </p:ext>
    </p:extLst>
  </p:cSld>
  <p:clrMap bg1="lt1" tx1="dk1" bg2="lt2" tx2="dk2" accent1="accent1" accent2="accent2" accent3="accent3" accent4="accent4" accent5="accent5" accent6="accent6" hlink="hlink" folHlink="folHlink"/>
  <p:notesStyle>
    <a:lvl1pPr marL="0" algn="l" defTabSz="3445459" rtl="0" eaLnBrk="1" latinLnBrk="0" hangingPunct="1">
      <a:defRPr sz="4522" kern="1200">
        <a:solidFill>
          <a:schemeClr val="tx1"/>
        </a:solidFill>
        <a:latin typeface="+mn-lt"/>
        <a:ea typeface="+mn-ea"/>
        <a:cs typeface="+mn-cs"/>
      </a:defRPr>
    </a:lvl1pPr>
    <a:lvl2pPr marL="1722730" algn="l" defTabSz="3445459" rtl="0" eaLnBrk="1" latinLnBrk="0" hangingPunct="1">
      <a:defRPr sz="4522" kern="1200">
        <a:solidFill>
          <a:schemeClr val="tx1"/>
        </a:solidFill>
        <a:latin typeface="+mn-lt"/>
        <a:ea typeface="+mn-ea"/>
        <a:cs typeface="+mn-cs"/>
      </a:defRPr>
    </a:lvl2pPr>
    <a:lvl3pPr marL="3445459" algn="l" defTabSz="3445459" rtl="0" eaLnBrk="1" latinLnBrk="0" hangingPunct="1">
      <a:defRPr sz="4522" kern="1200">
        <a:solidFill>
          <a:schemeClr val="tx1"/>
        </a:solidFill>
        <a:latin typeface="+mn-lt"/>
        <a:ea typeface="+mn-ea"/>
        <a:cs typeface="+mn-cs"/>
      </a:defRPr>
    </a:lvl3pPr>
    <a:lvl4pPr marL="5168189" algn="l" defTabSz="3445459" rtl="0" eaLnBrk="1" latinLnBrk="0" hangingPunct="1">
      <a:defRPr sz="4522" kern="1200">
        <a:solidFill>
          <a:schemeClr val="tx1"/>
        </a:solidFill>
        <a:latin typeface="+mn-lt"/>
        <a:ea typeface="+mn-ea"/>
        <a:cs typeface="+mn-cs"/>
      </a:defRPr>
    </a:lvl4pPr>
    <a:lvl5pPr marL="6890918" algn="l" defTabSz="3445459" rtl="0" eaLnBrk="1" latinLnBrk="0" hangingPunct="1">
      <a:defRPr sz="4522" kern="1200">
        <a:solidFill>
          <a:schemeClr val="tx1"/>
        </a:solidFill>
        <a:latin typeface="+mn-lt"/>
        <a:ea typeface="+mn-ea"/>
        <a:cs typeface="+mn-cs"/>
      </a:defRPr>
    </a:lvl5pPr>
    <a:lvl6pPr marL="8613648" algn="l" defTabSz="3445459" rtl="0" eaLnBrk="1" latinLnBrk="0" hangingPunct="1">
      <a:defRPr sz="4522" kern="1200">
        <a:solidFill>
          <a:schemeClr val="tx1"/>
        </a:solidFill>
        <a:latin typeface="+mn-lt"/>
        <a:ea typeface="+mn-ea"/>
        <a:cs typeface="+mn-cs"/>
      </a:defRPr>
    </a:lvl6pPr>
    <a:lvl7pPr marL="10336378" algn="l" defTabSz="3445459" rtl="0" eaLnBrk="1" latinLnBrk="0" hangingPunct="1">
      <a:defRPr sz="4522" kern="1200">
        <a:solidFill>
          <a:schemeClr val="tx1"/>
        </a:solidFill>
        <a:latin typeface="+mn-lt"/>
        <a:ea typeface="+mn-ea"/>
        <a:cs typeface="+mn-cs"/>
      </a:defRPr>
    </a:lvl7pPr>
    <a:lvl8pPr marL="12059107" algn="l" defTabSz="3445459" rtl="0" eaLnBrk="1" latinLnBrk="0" hangingPunct="1">
      <a:defRPr sz="4522" kern="1200">
        <a:solidFill>
          <a:schemeClr val="tx1"/>
        </a:solidFill>
        <a:latin typeface="+mn-lt"/>
        <a:ea typeface="+mn-ea"/>
        <a:cs typeface="+mn-cs"/>
      </a:defRPr>
    </a:lvl8pPr>
    <a:lvl9pPr marL="13781837" algn="l" defTabSz="3445459" rtl="0" eaLnBrk="1" latinLnBrk="0" hangingPunct="1">
      <a:defRPr sz="452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9de938f8a0_3_219:notes"/>
          <p:cNvSpPr txBox="1">
            <a:spLocks noGrp="1"/>
          </p:cNvSpPr>
          <p:nvPr>
            <p:ph type="body" idx="1"/>
          </p:nvPr>
        </p:nvSpPr>
        <p:spPr>
          <a:xfrm>
            <a:off x="4343550" y="15419800"/>
            <a:ext cx="34748400" cy="1460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g39de938f8a0_3_219:notes"/>
          <p:cNvSpPr>
            <a:spLocks noGrp="1" noRot="1" noChangeAspect="1"/>
          </p:cNvSpPr>
          <p:nvPr>
            <p:ph type="sldImg" idx="2"/>
          </p:nvPr>
        </p:nvSpPr>
        <p:spPr>
          <a:xfrm>
            <a:off x="14716125" y="2435225"/>
            <a:ext cx="14006513" cy="121729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5462167"/>
            <a:ext cx="32644080" cy="11619653"/>
          </a:xfrm>
        </p:spPr>
        <p:txBody>
          <a:bodyPr anchor="b"/>
          <a:lstStyle>
            <a:lvl1pPr algn="ctr">
              <a:defRPr sz="25200"/>
            </a:lvl1pPr>
          </a:lstStyle>
          <a:p>
            <a:r>
              <a:rPr lang="en-US"/>
              <a:t>Click to edit Master title style</a:t>
            </a:r>
            <a:endParaRPr lang="en-US" dirty="0"/>
          </a:p>
        </p:txBody>
      </p:sp>
      <p:sp>
        <p:nvSpPr>
          <p:cNvPr id="3" name="Subtitle 2"/>
          <p:cNvSpPr>
            <a:spLocks noGrp="1"/>
          </p:cNvSpPr>
          <p:nvPr>
            <p:ph type="subTitle" idx="1"/>
          </p:nvPr>
        </p:nvSpPr>
        <p:spPr>
          <a:xfrm>
            <a:off x="4800600" y="17529918"/>
            <a:ext cx="28803600" cy="8058042"/>
          </a:xfrm>
        </p:spPr>
        <p:txBody>
          <a:bodyPr/>
          <a:lstStyle>
            <a:lvl1pPr marL="0" indent="0" algn="ctr">
              <a:buNone/>
              <a:defRPr sz="10080"/>
            </a:lvl1pPr>
            <a:lvl2pPr marL="1920240" indent="0" algn="ctr">
              <a:buNone/>
              <a:defRPr sz="840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3CFB205-9A1D-454D-B7BD-9B22390E29A4}"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F02DC7-A035-9443-9C48-3B0ACBB03837}" type="slidenum">
              <a:rPr lang="en-US" smtClean="0"/>
              <a:t>‹#›</a:t>
            </a:fld>
            <a:endParaRPr lang="en-US"/>
          </a:p>
        </p:txBody>
      </p:sp>
    </p:spTree>
    <p:extLst>
      <p:ext uri="{BB962C8B-B14F-4D97-AF65-F5344CB8AC3E}">
        <p14:creationId xmlns:p14="http://schemas.microsoft.com/office/powerpoint/2010/main" val="4152899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CFB205-9A1D-454D-B7BD-9B22390E29A4}"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F02DC7-A035-9443-9C48-3B0ACBB03837}" type="slidenum">
              <a:rPr lang="en-US" smtClean="0"/>
              <a:t>‹#›</a:t>
            </a:fld>
            <a:endParaRPr lang="en-US"/>
          </a:p>
        </p:txBody>
      </p:sp>
    </p:spTree>
    <p:extLst>
      <p:ext uri="{BB962C8B-B14F-4D97-AF65-F5344CB8AC3E}">
        <p14:creationId xmlns:p14="http://schemas.microsoft.com/office/powerpoint/2010/main" val="1573023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0330" y="8320732"/>
            <a:ext cx="33124140" cy="13883320"/>
          </a:xfrm>
        </p:spPr>
        <p:txBody>
          <a:bodyPr anchor="b"/>
          <a:lstStyle>
            <a:lvl1pPr>
              <a:defRPr sz="25200"/>
            </a:lvl1pPr>
          </a:lstStyle>
          <a:p>
            <a:r>
              <a:rPr lang="en-US"/>
              <a:t>Click to edit Master title style</a:t>
            </a:r>
            <a:endParaRPr lang="en-US" dirty="0"/>
          </a:p>
        </p:txBody>
      </p:sp>
      <p:sp>
        <p:nvSpPr>
          <p:cNvPr id="3" name="Text Placeholder 2"/>
          <p:cNvSpPr>
            <a:spLocks noGrp="1"/>
          </p:cNvSpPr>
          <p:nvPr>
            <p:ph type="body" idx="1"/>
          </p:nvPr>
        </p:nvSpPr>
        <p:spPr>
          <a:xfrm>
            <a:off x="2620330" y="22335394"/>
            <a:ext cx="33124140" cy="7300910"/>
          </a:xfrm>
        </p:spPr>
        <p:txBody>
          <a:bodyPr/>
          <a:lstStyle>
            <a:lvl1pPr marL="0" indent="0">
              <a:buNone/>
              <a:defRPr sz="10080">
                <a:solidFill>
                  <a:schemeClr val="tx1">
                    <a:tint val="82000"/>
                  </a:schemeClr>
                </a:solidFill>
              </a:defRPr>
            </a:lvl1pPr>
            <a:lvl2pPr marL="1920240" indent="0">
              <a:buNone/>
              <a:defRPr sz="8400">
                <a:solidFill>
                  <a:schemeClr val="tx1">
                    <a:tint val="82000"/>
                  </a:schemeClr>
                </a:solidFill>
              </a:defRPr>
            </a:lvl2pPr>
            <a:lvl3pPr marL="3840480" indent="0">
              <a:buNone/>
              <a:defRPr sz="7560">
                <a:solidFill>
                  <a:schemeClr val="tx1">
                    <a:tint val="82000"/>
                  </a:schemeClr>
                </a:solidFill>
              </a:defRPr>
            </a:lvl3pPr>
            <a:lvl4pPr marL="5760720" indent="0">
              <a:buNone/>
              <a:defRPr sz="6720">
                <a:solidFill>
                  <a:schemeClr val="tx1">
                    <a:tint val="82000"/>
                  </a:schemeClr>
                </a:solidFill>
              </a:defRPr>
            </a:lvl4pPr>
            <a:lvl5pPr marL="7680960" indent="0">
              <a:buNone/>
              <a:defRPr sz="6720">
                <a:solidFill>
                  <a:schemeClr val="tx1">
                    <a:tint val="82000"/>
                  </a:schemeClr>
                </a:solidFill>
              </a:defRPr>
            </a:lvl5pPr>
            <a:lvl6pPr marL="9601200" indent="0">
              <a:buNone/>
              <a:defRPr sz="6720">
                <a:solidFill>
                  <a:schemeClr val="tx1">
                    <a:tint val="82000"/>
                  </a:schemeClr>
                </a:solidFill>
              </a:defRPr>
            </a:lvl6pPr>
            <a:lvl7pPr marL="11521440" indent="0">
              <a:buNone/>
              <a:defRPr sz="6720">
                <a:solidFill>
                  <a:schemeClr val="tx1">
                    <a:tint val="82000"/>
                  </a:schemeClr>
                </a:solidFill>
              </a:defRPr>
            </a:lvl7pPr>
            <a:lvl8pPr marL="13441680" indent="0">
              <a:buNone/>
              <a:defRPr sz="6720">
                <a:solidFill>
                  <a:schemeClr val="tx1">
                    <a:tint val="82000"/>
                  </a:schemeClr>
                </a:solidFill>
              </a:defRPr>
            </a:lvl8pPr>
            <a:lvl9pPr marL="15361920" indent="0">
              <a:buNone/>
              <a:defRPr sz="672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CFB205-9A1D-454D-B7BD-9B22390E29A4}"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F02DC7-A035-9443-9C48-3B0ACBB03837}" type="slidenum">
              <a:rPr lang="en-US" smtClean="0"/>
              <a:t>‹#›</a:t>
            </a:fld>
            <a:endParaRPr lang="en-US"/>
          </a:p>
        </p:txBody>
      </p:sp>
    </p:spTree>
    <p:extLst>
      <p:ext uri="{BB962C8B-B14F-4D97-AF65-F5344CB8AC3E}">
        <p14:creationId xmlns:p14="http://schemas.microsoft.com/office/powerpoint/2010/main" val="1554589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640330" y="8884708"/>
            <a:ext cx="16322040" cy="21176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9442430" y="8884708"/>
            <a:ext cx="16322040" cy="21176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CFB205-9A1D-454D-B7BD-9B22390E29A4}" type="datetimeFigureOut">
              <a:rPr lang="en-US" smtClean="0"/>
              <a:t>3/31/26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F02DC7-A035-9443-9C48-3B0ACBB03837}" type="slidenum">
              <a:rPr lang="en-US" smtClean="0"/>
              <a:t>‹#›</a:t>
            </a:fld>
            <a:endParaRPr lang="en-US"/>
          </a:p>
        </p:txBody>
      </p:sp>
    </p:spTree>
    <p:extLst>
      <p:ext uri="{BB962C8B-B14F-4D97-AF65-F5344CB8AC3E}">
        <p14:creationId xmlns:p14="http://schemas.microsoft.com/office/powerpoint/2010/main" val="808542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45332" y="1776949"/>
            <a:ext cx="33124140" cy="645107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45336" y="8181660"/>
            <a:ext cx="16247028" cy="4009705"/>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4" name="Content Placeholder 3"/>
          <p:cNvSpPr>
            <a:spLocks noGrp="1"/>
          </p:cNvSpPr>
          <p:nvPr>
            <p:ph sz="half" idx="2"/>
          </p:nvPr>
        </p:nvSpPr>
        <p:spPr>
          <a:xfrm>
            <a:off x="2645336" y="12191365"/>
            <a:ext cx="16247028" cy="1793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9442432" y="8181660"/>
            <a:ext cx="16327042" cy="4009705"/>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6" name="Content Placeholder 5"/>
          <p:cNvSpPr>
            <a:spLocks noGrp="1"/>
          </p:cNvSpPr>
          <p:nvPr>
            <p:ph sz="quarter" idx="4"/>
          </p:nvPr>
        </p:nvSpPr>
        <p:spPr>
          <a:xfrm>
            <a:off x="19442432" y="12191365"/>
            <a:ext cx="16327042" cy="1793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3CFB205-9A1D-454D-B7BD-9B22390E29A4}" type="datetimeFigureOut">
              <a:rPr lang="en-US" smtClean="0"/>
              <a:t>3/31/26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F02DC7-A035-9443-9C48-3B0ACBB03837}" type="slidenum">
              <a:rPr lang="en-US" smtClean="0"/>
              <a:t>‹#›</a:t>
            </a:fld>
            <a:endParaRPr lang="en-US"/>
          </a:p>
        </p:txBody>
      </p:sp>
    </p:spTree>
    <p:extLst>
      <p:ext uri="{BB962C8B-B14F-4D97-AF65-F5344CB8AC3E}">
        <p14:creationId xmlns:p14="http://schemas.microsoft.com/office/powerpoint/2010/main" val="587578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CFB205-9A1D-454D-B7BD-9B22390E29A4}" type="datetimeFigureOut">
              <a:rPr lang="en-US" smtClean="0"/>
              <a:t>3/31/26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F02DC7-A035-9443-9C48-3B0ACBB03837}" type="slidenum">
              <a:rPr lang="en-US" smtClean="0"/>
              <a:t>‹#›</a:t>
            </a:fld>
            <a:endParaRPr lang="en-US"/>
          </a:p>
        </p:txBody>
      </p:sp>
    </p:spTree>
    <p:extLst>
      <p:ext uri="{BB962C8B-B14F-4D97-AF65-F5344CB8AC3E}">
        <p14:creationId xmlns:p14="http://schemas.microsoft.com/office/powerpoint/2010/main" val="4030799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CFB205-9A1D-454D-B7BD-9B22390E29A4}" type="datetimeFigureOut">
              <a:rPr lang="en-US" smtClean="0"/>
              <a:t>3/31/26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F02DC7-A035-9443-9C48-3B0ACBB03837}" type="slidenum">
              <a:rPr lang="en-US" smtClean="0"/>
              <a:t>‹#›</a:t>
            </a:fld>
            <a:endParaRPr lang="en-US"/>
          </a:p>
        </p:txBody>
      </p:sp>
    </p:spTree>
    <p:extLst>
      <p:ext uri="{BB962C8B-B14F-4D97-AF65-F5344CB8AC3E}">
        <p14:creationId xmlns:p14="http://schemas.microsoft.com/office/powerpoint/2010/main" val="1788896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225040"/>
            <a:ext cx="12386548" cy="7787640"/>
          </a:xfrm>
        </p:spPr>
        <p:txBody>
          <a:bodyPr anchor="b"/>
          <a:lstStyle>
            <a:lvl1pPr>
              <a:defRPr sz="13440"/>
            </a:lvl1pPr>
          </a:lstStyle>
          <a:p>
            <a:r>
              <a:rPr lang="en-US"/>
              <a:t>Click to edit Master title style</a:t>
            </a:r>
            <a:endParaRPr lang="en-US" dirty="0"/>
          </a:p>
        </p:txBody>
      </p:sp>
      <p:sp>
        <p:nvSpPr>
          <p:cNvPr id="3" name="Content Placeholder 2"/>
          <p:cNvSpPr>
            <a:spLocks noGrp="1"/>
          </p:cNvSpPr>
          <p:nvPr>
            <p:ph idx="1"/>
          </p:nvPr>
        </p:nvSpPr>
        <p:spPr>
          <a:xfrm>
            <a:off x="16327042" y="4805476"/>
            <a:ext cx="19442430" cy="23718308"/>
          </a:xfrm>
        </p:spPr>
        <p:txBody>
          <a:bodyPr/>
          <a:lstStyle>
            <a:lvl1pPr>
              <a:defRPr sz="13440"/>
            </a:lvl1pPr>
            <a:lvl2pPr>
              <a:defRPr sz="11760"/>
            </a:lvl2pPr>
            <a:lvl3pPr>
              <a:defRPr sz="1008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645332" y="10012680"/>
            <a:ext cx="12386548" cy="18549728"/>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53CFB205-9A1D-454D-B7BD-9B22390E29A4}" type="datetimeFigureOut">
              <a:rPr lang="en-US" smtClean="0"/>
              <a:t>3/31/26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F02DC7-A035-9443-9C48-3B0ACBB03837}" type="slidenum">
              <a:rPr lang="en-US" smtClean="0"/>
              <a:t>‹#›</a:t>
            </a:fld>
            <a:endParaRPr lang="en-US"/>
          </a:p>
        </p:txBody>
      </p:sp>
    </p:spTree>
    <p:extLst>
      <p:ext uri="{BB962C8B-B14F-4D97-AF65-F5344CB8AC3E}">
        <p14:creationId xmlns:p14="http://schemas.microsoft.com/office/powerpoint/2010/main" val="686257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225040"/>
            <a:ext cx="12386548" cy="7787640"/>
          </a:xfrm>
        </p:spPr>
        <p:txBody>
          <a:bodyPr anchor="b"/>
          <a:lstStyle>
            <a:lvl1pPr>
              <a:defRPr sz="134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6327042" y="4805476"/>
            <a:ext cx="19442430" cy="23718308"/>
          </a:xfrm>
        </p:spPr>
        <p:txBody>
          <a:bodyPr anchor="t"/>
          <a:lstStyle>
            <a:lvl1pPr marL="0" indent="0">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r>
              <a:rPr lang="en-US"/>
              <a:t>Click icon to add picture</a:t>
            </a:r>
            <a:endParaRPr lang="en-US" dirty="0"/>
          </a:p>
        </p:txBody>
      </p:sp>
      <p:sp>
        <p:nvSpPr>
          <p:cNvPr id="4" name="Text Placeholder 3"/>
          <p:cNvSpPr>
            <a:spLocks noGrp="1"/>
          </p:cNvSpPr>
          <p:nvPr>
            <p:ph type="body" sz="half" idx="2"/>
          </p:nvPr>
        </p:nvSpPr>
        <p:spPr>
          <a:xfrm>
            <a:off x="2645332" y="10012680"/>
            <a:ext cx="12386548" cy="18549728"/>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53CFB205-9A1D-454D-B7BD-9B22390E29A4}" type="datetimeFigureOut">
              <a:rPr lang="en-US" smtClean="0"/>
              <a:t>3/31/26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F02DC7-A035-9443-9C48-3B0ACBB03837}" type="slidenum">
              <a:rPr lang="en-US" smtClean="0"/>
              <a:t>‹#›</a:t>
            </a:fld>
            <a:endParaRPr lang="en-US"/>
          </a:p>
        </p:txBody>
      </p:sp>
    </p:spTree>
    <p:extLst>
      <p:ext uri="{BB962C8B-B14F-4D97-AF65-F5344CB8AC3E}">
        <p14:creationId xmlns:p14="http://schemas.microsoft.com/office/powerpoint/2010/main" val="1164036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CFB205-9A1D-454D-B7BD-9B22390E29A4}"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F02DC7-A035-9443-9C48-3B0ACBB03837}" type="slidenum">
              <a:rPr lang="en-US" smtClean="0"/>
              <a:t>‹#›</a:t>
            </a:fld>
            <a:endParaRPr lang="en-US"/>
          </a:p>
        </p:txBody>
      </p:sp>
    </p:spTree>
    <p:extLst>
      <p:ext uri="{BB962C8B-B14F-4D97-AF65-F5344CB8AC3E}">
        <p14:creationId xmlns:p14="http://schemas.microsoft.com/office/powerpoint/2010/main" val="2854427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483437" y="1776942"/>
            <a:ext cx="8281035" cy="2828427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640332" y="1776942"/>
            <a:ext cx="24363045" cy="2828427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CFB205-9A1D-454D-B7BD-9B22390E29A4}"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F02DC7-A035-9443-9C48-3B0ACBB03837}" type="slidenum">
              <a:rPr lang="en-US" smtClean="0"/>
              <a:t>‹#›</a:t>
            </a:fld>
            <a:endParaRPr lang="en-US"/>
          </a:p>
        </p:txBody>
      </p:sp>
    </p:spTree>
    <p:extLst>
      <p:ext uri="{BB962C8B-B14F-4D97-AF65-F5344CB8AC3E}">
        <p14:creationId xmlns:p14="http://schemas.microsoft.com/office/powerpoint/2010/main" val="323524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40330" y="1776949"/>
            <a:ext cx="33124140" cy="645107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640330" y="8884708"/>
            <a:ext cx="33124140" cy="211765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40330" y="30934244"/>
            <a:ext cx="8641080" cy="1776942"/>
          </a:xfrm>
          <a:prstGeom prst="rect">
            <a:avLst/>
          </a:prstGeom>
        </p:spPr>
        <p:txBody>
          <a:bodyPr vert="horz" lIns="91440" tIns="45720" rIns="91440" bIns="45720" rtlCol="0" anchor="ctr"/>
          <a:lstStyle>
            <a:lvl1pPr algn="l">
              <a:defRPr sz="5040">
                <a:solidFill>
                  <a:schemeClr val="tx1">
                    <a:tint val="82000"/>
                  </a:schemeClr>
                </a:solidFill>
              </a:defRPr>
            </a:lvl1pPr>
          </a:lstStyle>
          <a:p>
            <a:fld id="{53CFB205-9A1D-454D-B7BD-9B22390E29A4}" type="datetimeFigureOut">
              <a:rPr lang="en-US" smtClean="0"/>
              <a:t>3/31/26</a:t>
            </a:fld>
            <a:endParaRPr lang="en-US"/>
          </a:p>
        </p:txBody>
      </p:sp>
      <p:sp>
        <p:nvSpPr>
          <p:cNvPr id="5" name="Footer Placeholder 4"/>
          <p:cNvSpPr>
            <a:spLocks noGrp="1"/>
          </p:cNvSpPr>
          <p:nvPr>
            <p:ph type="ftr" sz="quarter" idx="3"/>
          </p:nvPr>
        </p:nvSpPr>
        <p:spPr>
          <a:xfrm>
            <a:off x="12721590" y="30934244"/>
            <a:ext cx="12961620" cy="1776942"/>
          </a:xfrm>
          <a:prstGeom prst="rect">
            <a:avLst/>
          </a:prstGeom>
        </p:spPr>
        <p:txBody>
          <a:bodyPr vert="horz" lIns="91440" tIns="45720" rIns="91440" bIns="45720" rtlCol="0" anchor="ctr"/>
          <a:lstStyle>
            <a:lvl1pPr algn="ctr">
              <a:defRPr sz="504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7123390" y="30934244"/>
            <a:ext cx="8641080" cy="1776942"/>
          </a:xfrm>
          <a:prstGeom prst="rect">
            <a:avLst/>
          </a:prstGeom>
        </p:spPr>
        <p:txBody>
          <a:bodyPr vert="horz" lIns="91440" tIns="45720" rIns="91440" bIns="45720" rtlCol="0" anchor="ctr"/>
          <a:lstStyle>
            <a:lvl1pPr algn="r">
              <a:defRPr sz="5040">
                <a:solidFill>
                  <a:schemeClr val="tx1">
                    <a:tint val="82000"/>
                  </a:schemeClr>
                </a:solidFill>
              </a:defRPr>
            </a:lvl1pPr>
          </a:lstStyle>
          <a:p>
            <a:fld id="{8DF02DC7-A035-9443-9C48-3B0ACBB03837}" type="slidenum">
              <a:rPr lang="en-US" smtClean="0"/>
              <a:t>‹#›</a:t>
            </a:fld>
            <a:endParaRPr lang="en-US"/>
          </a:p>
        </p:txBody>
      </p:sp>
    </p:spTree>
    <p:extLst>
      <p:ext uri="{BB962C8B-B14F-4D97-AF65-F5344CB8AC3E}">
        <p14:creationId xmlns:p14="http://schemas.microsoft.com/office/powerpoint/2010/main" val="37886936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3840480" rtl="0" eaLnBrk="1" latinLnBrk="0" hangingPunct="1">
        <a:lnSpc>
          <a:spcPct val="90000"/>
        </a:lnSpc>
        <a:spcBef>
          <a:spcPct val="0"/>
        </a:spcBef>
        <a:buNone/>
        <a:defRPr sz="18480" kern="1200">
          <a:solidFill>
            <a:schemeClr val="tx1"/>
          </a:solidFill>
          <a:latin typeface="+mj-lt"/>
          <a:ea typeface="+mj-ea"/>
          <a:cs typeface="+mj-cs"/>
        </a:defRPr>
      </a:lvl1pPr>
    </p:titleStyle>
    <p:bodyStyle>
      <a:lvl1pPr marL="960120" indent="-960120" algn="l" defTabSz="3840480" rtl="0" eaLnBrk="1" latinLnBrk="0" hangingPunct="1">
        <a:lnSpc>
          <a:spcPct val="90000"/>
        </a:lnSpc>
        <a:spcBef>
          <a:spcPts val="4200"/>
        </a:spcBef>
        <a:buFont typeface="Arial" panose="020B0604020202020204" pitchFamily="34" charset="0"/>
        <a:buChar char="•"/>
        <a:defRPr sz="11760" kern="1200">
          <a:solidFill>
            <a:schemeClr val="tx1"/>
          </a:solidFill>
          <a:latin typeface="+mn-lt"/>
          <a:ea typeface="+mn-ea"/>
          <a:cs typeface="+mn-cs"/>
        </a:defRPr>
      </a:lvl1pPr>
      <a:lvl2pPr marL="2880360" indent="-960120" algn="l" defTabSz="3840480" rtl="0" eaLnBrk="1" latinLnBrk="0" hangingPunct="1">
        <a:lnSpc>
          <a:spcPct val="90000"/>
        </a:lnSpc>
        <a:spcBef>
          <a:spcPts val="2100"/>
        </a:spcBef>
        <a:buFont typeface="Arial" panose="020B0604020202020204" pitchFamily="34" charset="0"/>
        <a:buChar char="•"/>
        <a:defRPr sz="10080" kern="1200">
          <a:solidFill>
            <a:schemeClr val="tx1"/>
          </a:solidFill>
          <a:latin typeface="+mn-lt"/>
          <a:ea typeface="+mn-ea"/>
          <a:cs typeface="+mn-cs"/>
        </a:defRPr>
      </a:lvl2pPr>
      <a:lvl3pPr marL="4800600" indent="-960120" algn="l" defTabSz="3840480" rtl="0" eaLnBrk="1" latinLnBrk="0" hangingPunct="1">
        <a:lnSpc>
          <a:spcPct val="90000"/>
        </a:lnSpc>
        <a:spcBef>
          <a:spcPts val="2100"/>
        </a:spcBef>
        <a:buFont typeface="Arial" panose="020B0604020202020204" pitchFamily="34" charset="0"/>
        <a:buChar char="•"/>
        <a:defRPr sz="8400" kern="1200">
          <a:solidFill>
            <a:schemeClr val="tx1"/>
          </a:solidFill>
          <a:latin typeface="+mn-lt"/>
          <a:ea typeface="+mn-ea"/>
          <a:cs typeface="+mn-cs"/>
        </a:defRPr>
      </a:lvl3pPr>
      <a:lvl4pPr marL="67208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4pPr>
      <a:lvl5pPr marL="864108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5pPr>
      <a:lvl6pPr marL="1056132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6pPr>
      <a:lvl7pPr marL="1248156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7pPr>
      <a:lvl8pPr marL="1440180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8pPr>
      <a:lvl9pPr marL="163220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172" name="Google Shape;90;g39de938f8a0_3_219">
            <a:extLst>
              <a:ext uri="{FF2B5EF4-FFF2-40B4-BE49-F238E27FC236}">
                <a16:creationId xmlns:a16="http://schemas.microsoft.com/office/drawing/2014/main" id="{ABD8D39E-8E8B-1735-F3F7-F634FF377D39}"/>
              </a:ext>
            </a:extLst>
          </p:cNvPr>
          <p:cNvSpPr txBox="1"/>
          <p:nvPr/>
        </p:nvSpPr>
        <p:spPr>
          <a:xfrm>
            <a:off x="11764318" y="3500117"/>
            <a:ext cx="26383474" cy="15114157"/>
          </a:xfrm>
          <a:prstGeom prst="rect">
            <a:avLst/>
          </a:prstGeom>
          <a:solidFill>
            <a:schemeClr val="lt1"/>
          </a:solidFill>
          <a:ln w="50165" cap="flat" cmpd="sng">
            <a:solidFill>
              <a:schemeClr val="dk1"/>
            </a:solidFill>
            <a:prstDash val="solid"/>
            <a:round/>
            <a:headEnd type="none" w="sm" len="sm"/>
            <a:tailEnd type="none" w="sm" len="sm"/>
          </a:ln>
        </p:spPr>
        <p:txBody>
          <a:bodyPr spcFirstLastPara="1" wrap="square" lIns="264940" tIns="158952" rIns="264940" bIns="264940" anchor="t" anchorCtr="0">
            <a:noAutofit/>
          </a:bodyPr>
          <a:lstStyle/>
          <a:p>
            <a:pPr>
              <a:buClr>
                <a:schemeClr val="dk1"/>
              </a:buClr>
            </a:pPr>
            <a:endParaRPr sz="810" dirty="0"/>
          </a:p>
        </p:txBody>
      </p:sp>
      <p:sp>
        <p:nvSpPr>
          <p:cNvPr id="86" name="Google Shape;86;g39de938f8a0_3_219"/>
          <p:cNvSpPr txBox="1">
            <a:spLocks noGrp="1"/>
          </p:cNvSpPr>
          <p:nvPr>
            <p:ph type="title"/>
          </p:nvPr>
        </p:nvSpPr>
        <p:spPr>
          <a:xfrm>
            <a:off x="3150384" y="-226513"/>
            <a:ext cx="28964426" cy="3621832"/>
          </a:xfrm>
          <a:prstGeom prst="rect">
            <a:avLst/>
          </a:prstGeom>
          <a:noFill/>
          <a:ln>
            <a:noFill/>
          </a:ln>
        </p:spPr>
        <p:txBody>
          <a:bodyPr spcFirstLastPara="1" vert="horz" wrap="square" lIns="264940" tIns="264940" rIns="264940" bIns="264940" rtlCol="0" anchor="ctr" anchorCtr="0">
            <a:noAutofit/>
          </a:bodyPr>
          <a:lstStyle/>
          <a:p>
            <a:pPr algn="ctr">
              <a:spcBef>
                <a:spcPts val="0"/>
              </a:spcBef>
              <a:buClr>
                <a:schemeClr val="lt1"/>
              </a:buClr>
              <a:buSzPts val="7663"/>
            </a:pPr>
            <a:r>
              <a:rPr lang="en-US" sz="4489" dirty="0">
                <a:solidFill>
                  <a:schemeClr val="lt1"/>
                </a:solidFill>
              </a:rPr>
              <a:t>Comparing Six Methods for Determining the Refractive Index of a Glass Prism Using a Multi-Wavelength Laser and a Versatile Optical Setup</a:t>
            </a:r>
            <a:endParaRPr sz="11756" dirty="0"/>
          </a:p>
        </p:txBody>
      </p:sp>
      <p:sp>
        <p:nvSpPr>
          <p:cNvPr id="87" name="Google Shape;87;g39de938f8a0_3_219"/>
          <p:cNvSpPr txBox="1">
            <a:spLocks noGrp="1"/>
          </p:cNvSpPr>
          <p:nvPr>
            <p:ph type="body" idx="1"/>
          </p:nvPr>
        </p:nvSpPr>
        <p:spPr>
          <a:xfrm>
            <a:off x="203939" y="3459600"/>
            <a:ext cx="11142982" cy="4337709"/>
          </a:xfrm>
          <a:prstGeom prst="rect">
            <a:avLst/>
          </a:prstGeom>
          <a:solidFill>
            <a:schemeClr val="lt1"/>
          </a:solidFill>
          <a:ln w="50165" cap="rnd" cmpd="sng">
            <a:solidFill>
              <a:schemeClr val="dk1"/>
            </a:solidFill>
            <a:prstDash val="solid"/>
            <a:round/>
            <a:headEnd type="none" w="sm" len="sm"/>
            <a:tailEnd type="none" w="sm" len="sm"/>
          </a:ln>
        </p:spPr>
        <p:txBody>
          <a:bodyPr spcFirstLastPara="1" vert="horz" wrap="square" lIns="264940" tIns="158952" rIns="264940" bIns="264940" rtlCol="0" anchor="t" anchorCtr="0">
            <a:noAutofit/>
          </a:bodyPr>
          <a:lstStyle/>
          <a:p>
            <a:pPr marL="0" indent="0" algn="ctr">
              <a:spcBef>
                <a:spcPts val="0"/>
              </a:spcBef>
              <a:buClr>
                <a:schemeClr val="dk1"/>
              </a:buClr>
              <a:buSzPts val="3939"/>
              <a:buNone/>
            </a:pPr>
            <a:r>
              <a:rPr lang="en-US" sz="2380" b="1" dirty="0"/>
              <a:t>Abstract</a:t>
            </a:r>
          </a:p>
          <a:p>
            <a:pPr>
              <a:spcBef>
                <a:spcPts val="0"/>
              </a:spcBef>
              <a:buClr>
                <a:schemeClr val="dk1"/>
              </a:buClr>
              <a:buSzPts val="3939"/>
            </a:pPr>
            <a:r>
              <a:rPr lang="en-US" sz="2350" b="0" dirty="0"/>
              <a:t>We present three methods for analyzing the first order differential equation for the change in temperature of a solar panel over time. The methods include: </a:t>
            </a:r>
            <a:r>
              <a:rPr lang="en-US" sz="2350" b="0" i="1" dirty="0"/>
              <a:t>Eulers method, Improved Euler’s method</a:t>
            </a:r>
            <a:r>
              <a:rPr lang="en-US" sz="2350" b="0" dirty="0"/>
              <a:t>, and plotting the vector field. This research stems from wanting a deeper understanding of first order differential equations as well as an interest in how solar panels temperature change relative to the energy efficiency of the model. We found that solving using the Improved Euler’s method yielded better results, but the difference between the models is reduced significantly as the number of points created increased. The vector fields were produced using the exact function in GNU Plot. In the future, we intend to investigate various computational methods such as Monte Carlo simulations as well as a coupling of physics equations to yield ideal results. </a:t>
            </a:r>
          </a:p>
        </p:txBody>
      </p:sp>
      <mc:AlternateContent xmlns:mc="http://schemas.openxmlformats.org/markup-compatibility/2006">
        <mc:Choice xmlns:a14="http://schemas.microsoft.com/office/drawing/2010/main" Requires="a14">
          <p:sp>
            <p:nvSpPr>
              <p:cNvPr id="88" name="Google Shape;88;g39de938f8a0_3_219"/>
              <p:cNvSpPr txBox="1">
                <a:spLocks noGrp="1"/>
              </p:cNvSpPr>
              <p:nvPr>
                <p:ph sz="half" idx="2"/>
              </p:nvPr>
            </p:nvSpPr>
            <p:spPr>
              <a:xfrm>
                <a:off x="239388" y="8015664"/>
                <a:ext cx="11142982" cy="23939193"/>
              </a:xfrm>
              <a:prstGeom prst="rect">
                <a:avLst/>
              </a:prstGeom>
              <a:solidFill>
                <a:schemeClr val="lt1"/>
              </a:solidFill>
              <a:ln w="50165" cap="flat" cmpd="sng">
                <a:solidFill>
                  <a:schemeClr val="dk1"/>
                </a:solidFill>
                <a:prstDash val="solid"/>
                <a:round/>
                <a:headEnd type="none" w="sm" len="sm"/>
                <a:tailEnd type="none" w="sm" len="sm"/>
              </a:ln>
            </p:spPr>
            <p:txBody>
              <a:bodyPr spcFirstLastPara="1" vert="horz" wrap="square" lIns="264940" tIns="158952" rIns="264940" bIns="264940" rtlCol="0" anchor="t" anchorCtr="0">
                <a:noAutofit/>
              </a:bodyPr>
              <a:lstStyle/>
              <a:p>
                <a:pPr marL="0" indent="0" algn="ctr">
                  <a:lnSpc>
                    <a:spcPct val="100000"/>
                  </a:lnSpc>
                  <a:spcBef>
                    <a:spcPts val="0"/>
                  </a:spcBef>
                  <a:buClr>
                    <a:schemeClr val="dk1"/>
                  </a:buClr>
                  <a:buSzPts val="3939"/>
                  <a:buNone/>
                </a:pPr>
                <a:r>
                  <a:rPr lang="en-US" sz="2375" b="1" dirty="0"/>
                  <a:t>Theory and Code</a:t>
                </a:r>
              </a:p>
              <a:p>
                <a:pPr marL="0" indent="0">
                  <a:spcBef>
                    <a:spcPts val="350"/>
                  </a:spcBef>
                  <a:buNone/>
                </a:pPr>
                <a:r>
                  <a:rPr lang="en-US" sz="2400" b="1" dirty="0"/>
                  <a:t>Energy Balance Derivation</a:t>
                </a:r>
              </a:p>
              <a:p>
                <a:pPr marL="0" indent="0">
                  <a:spcBef>
                    <a:spcPts val="150"/>
                  </a:spcBef>
                  <a:buNone/>
                </a:pPr>
                <a:r>
                  <a:rPr lang="en-US" sz="2000" dirty="0"/>
                  <a:t>A solar panel absorbs solar irradiance G (W/m²) over its face area A. A fraction α (absorptivity) of this energy is converted to heat while a fraction </a:t>
                </a:r>
                <a:r>
                  <a:rPr lang="en-US" sz="2000" dirty="0" err="1"/>
                  <a:t>η</a:t>
                </a:r>
                <a:r>
                  <a:rPr lang="en-US" sz="2000" dirty="0"/>
                  <a:t> (panel efficiency) exits as electrical work. The remainder drives the panel’s temperature rise. Heat is simultaneously lost to the environment by convection and, in the nonlinear model, by thermal radiation. Applying the first law of thermodynamics to a lumped-capacitance panel of mass m and specific heat cₙ yields the governing ODE:</a:t>
                </a:r>
              </a:p>
              <a:p>
                <a:pPr marL="0" indent="0">
                  <a:spcBef>
                    <a:spcPts val="300"/>
                  </a:spcBef>
                  <a:buNone/>
                </a:pPr>
                <a:r>
                  <a:rPr lang="en-US" sz="2400" b="1" dirty="0"/>
                  <a:t>Model 1 — Linear ODE (Convection Only)</a:t>
                </a:r>
              </a:p>
              <a:p>
                <a:pPr marL="0" indent="0">
                  <a:spcBef>
                    <a:spcPts val="150"/>
                  </a:spcBef>
                  <a:buNone/>
                </a:pPr>
                <a:endParaRPr lang="en-US" sz="2000" dirty="0"/>
              </a:p>
              <a:p>
                <a:pPr marL="0" indent="0">
                  <a:spcBef>
                    <a:spcPts val="150"/>
                  </a:spcBef>
                  <a:buNone/>
                </a:pPr>
                <a:endParaRPr lang="en-US" sz="2000" dirty="0"/>
              </a:p>
              <a:p>
                <a:pPr marL="0" indent="0">
                  <a:spcBef>
                    <a:spcPts val="150"/>
                  </a:spcBef>
                  <a:buNone/>
                </a:pPr>
                <a:endParaRPr lang="en-US" sz="2000" dirty="0"/>
              </a:p>
              <a:p>
                <a:pPr marL="0" indent="0">
                  <a:spcBef>
                    <a:spcPts val="150"/>
                  </a:spcBef>
                  <a:buNone/>
                </a:pPr>
                <a:r>
                  <a:rPr lang="en-US" sz="2000" dirty="0"/>
                  <a:t>The solar gain term </a:t>
                </a:r>
                <a:r>
                  <a:rPr lang="en-US" sz="2000" i="1" dirty="0">
                    <a:latin typeface="Cambria Math" panose="02040503050406030204" pitchFamily="18" charset="0"/>
                    <a:ea typeface="Cambria Math" panose="02040503050406030204" pitchFamily="18" charset="0"/>
                  </a:rPr>
                  <a:t>(α−</a:t>
                </a:r>
                <a:r>
                  <a:rPr lang="en-US" sz="2000" i="1" dirty="0" err="1">
                    <a:latin typeface="Cambria Math" panose="02040503050406030204" pitchFamily="18" charset="0"/>
                    <a:ea typeface="Cambria Math" panose="02040503050406030204" pitchFamily="18" charset="0"/>
                  </a:rPr>
                  <a:t>η</a:t>
                </a:r>
                <a:r>
                  <a:rPr lang="en-US" sz="2000" i="1" dirty="0">
                    <a:latin typeface="Cambria Math" panose="02040503050406030204" pitchFamily="18" charset="0"/>
                    <a:ea typeface="Cambria Math" panose="02040503050406030204" pitchFamily="18" charset="0"/>
                  </a:rPr>
                  <a:t>)GA</a:t>
                </a:r>
                <a:r>
                  <a:rPr lang="en-US" sz="2000" dirty="0">
                    <a:latin typeface="Cambria Math" panose="02040503050406030204" pitchFamily="18" charset="0"/>
                    <a:ea typeface="Cambria Math" panose="02040503050406030204" pitchFamily="18" charset="0"/>
                  </a:rPr>
                  <a:t> </a:t>
                </a:r>
                <a:r>
                  <a:rPr lang="en-US" sz="2000" dirty="0"/>
                  <a:t>is constant, making this a first-order linear ODE with constant coefficients. The convective loss </a:t>
                </a:r>
                <a:r>
                  <a:rPr lang="en-US" sz="2000" i="1" dirty="0" err="1">
                    <a:latin typeface="Cambria Math" panose="02040503050406030204" pitchFamily="18" charset="0"/>
                    <a:ea typeface="Cambria Math" panose="02040503050406030204" pitchFamily="18" charset="0"/>
                  </a:rPr>
                  <a:t>hᴀA</a:t>
                </a:r>
                <a:r>
                  <a:rPr lang="en-US" sz="2000" i="1" dirty="0">
                    <a:latin typeface="Cambria Math" panose="02040503050406030204" pitchFamily="18" charset="0"/>
                    <a:ea typeface="Cambria Math" panose="02040503050406030204" pitchFamily="18" charset="0"/>
                  </a:rPr>
                  <a:t>(T−Tₐₙₙ)</a:t>
                </a:r>
                <a:r>
                  <a:rPr lang="en-US" sz="2000" i="1" dirty="0"/>
                  <a:t> </a:t>
                </a:r>
                <a:r>
                  <a:rPr lang="en-US" sz="2000" dirty="0"/>
                  <a:t>is proportional to the temperature difference between the panel and the ambient air, introducing a linear restoring force. This structure allows separation of variables and exact analytical solution.</a:t>
                </a:r>
              </a:p>
              <a:p>
                <a:pPr marL="0" indent="0">
                  <a:spcBef>
                    <a:spcPts val="300"/>
                  </a:spcBef>
                  <a:buNone/>
                </a:pPr>
                <a:r>
                  <a:rPr lang="en-US" sz="2400" b="1" dirty="0"/>
                  <a:t>Model 2 — Nonlinear ODE (Convection + Radiation)</a:t>
                </a:r>
              </a:p>
              <a:p>
                <a:pPr marL="0" indent="0">
                  <a:spcBef>
                    <a:spcPts val="150"/>
                  </a:spcBef>
                  <a:buNone/>
                </a:pPr>
                <a:endParaRPr lang="en-US" sz="2000" dirty="0"/>
              </a:p>
              <a:p>
                <a:pPr marL="0" indent="0">
                  <a:spcBef>
                    <a:spcPts val="150"/>
                  </a:spcBef>
                  <a:buNone/>
                </a:pPr>
                <a:endParaRPr lang="en-US" sz="2000" dirty="0"/>
              </a:p>
              <a:p>
                <a:pPr marL="0" indent="0">
                  <a:spcBef>
                    <a:spcPts val="150"/>
                  </a:spcBef>
                  <a:buNone/>
                </a:pPr>
                <a:endParaRPr lang="en-US" sz="2000" dirty="0"/>
              </a:p>
              <a:p>
                <a:pPr marL="0" indent="0">
                  <a:spcBef>
                    <a:spcPts val="150"/>
                  </a:spcBef>
                  <a:buNone/>
                </a:pPr>
                <a:r>
                  <a:rPr lang="en-US" sz="2000" dirty="0"/>
                  <a:t>Adding the Stefan-Boltzmann radiation term </a:t>
                </a:r>
                <a:r>
                  <a:rPr lang="en-US" sz="2000" i="1" dirty="0" err="1">
                    <a:latin typeface="Cambria Math" panose="02040503050406030204" pitchFamily="18" charset="0"/>
                    <a:ea typeface="Cambria Math" panose="02040503050406030204" pitchFamily="18" charset="0"/>
                  </a:rPr>
                  <a:t>εσA</a:t>
                </a:r>
                <a:r>
                  <a:rPr lang="en-US" sz="2000" i="1" dirty="0">
                    <a:latin typeface="Cambria Math" panose="02040503050406030204" pitchFamily="18" charset="0"/>
                    <a:ea typeface="Cambria Math" panose="02040503050406030204" pitchFamily="18" charset="0"/>
                  </a:rPr>
                  <a:t>(T⁴−</a:t>
                </a:r>
                <a:r>
                  <a:rPr lang="en-US" sz="2000" i="1" dirty="0"/>
                  <a:t>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𝑇</m:t>
                        </m:r>
                      </m:e>
                      <m:sub>
                        <m:r>
                          <a:rPr lang="en-US" sz="2000" i="1">
                            <a:latin typeface="Cambria Math" panose="02040503050406030204" pitchFamily="18" charset="0"/>
                          </a:rPr>
                          <m:t>𝑠𝑘𝑦</m:t>
                        </m:r>
                      </m:sub>
                      <m:sup>
                        <m:r>
                          <a:rPr lang="en-US" sz="2000" i="1">
                            <a:latin typeface="Cambria Math" panose="02040503050406030204" pitchFamily="18" charset="0"/>
                          </a:rPr>
                          <m:t>4</m:t>
                        </m:r>
                      </m:sup>
                    </m:sSubSup>
                  </m:oMath>
                </a14:m>
                <a:r>
                  <a:rPr lang="en-US" sz="2000" dirty="0">
                    <a:latin typeface="Cambria Math" panose="02040503050406030204" pitchFamily="18" charset="0"/>
                    <a:ea typeface="Cambria Math" panose="02040503050406030204" pitchFamily="18" charset="0"/>
                  </a:rPr>
                  <a:t>) </a:t>
                </a:r>
                <a:r>
                  <a:rPr lang="en-US" sz="2000" dirty="0"/>
                  <a:t>introduces strong nonlinearity because panel emission scales as </a:t>
                </a:r>
                <a:r>
                  <a:rPr lang="en-US" sz="2000" i="1" dirty="0">
                    <a:latin typeface="Cambria Math" panose="02040503050406030204" pitchFamily="18" charset="0"/>
                    <a:ea typeface="Cambria Math" panose="02040503050406030204" pitchFamily="18" charset="0"/>
                  </a:rPr>
                  <a:t>T⁴</a:t>
                </a:r>
                <a:r>
                  <a:rPr lang="en-US" sz="2000" dirty="0"/>
                  <a:t> while sky absorption scales as </a:t>
                </a:r>
                <a14:m>
                  <m:oMath xmlns:m="http://schemas.openxmlformats.org/officeDocument/2006/math">
                    <m:sSubSup>
                      <m:sSubSupPr>
                        <m:ctrlPr>
                          <a:rPr lang="en-US" sz="2000" i="1" smtClean="0">
                            <a:latin typeface="Cambria Math" panose="02040503050406030204" pitchFamily="18" charset="0"/>
                          </a:rPr>
                        </m:ctrlPr>
                      </m:sSubSupPr>
                      <m:e>
                        <m:r>
                          <a:rPr lang="en-US" sz="2000" b="0" i="1" smtClean="0">
                            <a:latin typeface="Cambria Math" panose="02040503050406030204" pitchFamily="18" charset="0"/>
                          </a:rPr>
                          <m:t>𝑇</m:t>
                        </m:r>
                      </m:e>
                      <m:sub>
                        <m:r>
                          <a:rPr lang="en-US" sz="2000" b="0" i="1" smtClean="0">
                            <a:latin typeface="Cambria Math" panose="02040503050406030204" pitchFamily="18" charset="0"/>
                          </a:rPr>
                          <m:t>𝑠𝑘𝑦</m:t>
                        </m:r>
                      </m:sub>
                      <m:sup>
                        <m:r>
                          <a:rPr lang="en-US" sz="2000" b="0" i="1" smtClean="0">
                            <a:latin typeface="Cambria Math" panose="02040503050406030204" pitchFamily="18" charset="0"/>
                          </a:rPr>
                          <m:t>4</m:t>
                        </m:r>
                      </m:sup>
                    </m:sSubSup>
                  </m:oMath>
                </a14:m>
                <a:r>
                  <a:rPr lang="en-US" sz="2000" dirty="0"/>
                  <a:t>. The sky temperature (278.15 K) is lower than ambient air temperature (298.15 K), reflecting the effective radiative temperature of the atmosphere. No closed-form solution exists; numerical methods are required.</a:t>
                </a:r>
                <a:endParaRPr lang="en-US" sz="1800" dirty="0"/>
              </a:p>
              <a:p>
                <a:pPr marL="0" indent="0">
                  <a:spcBef>
                    <a:spcPts val="300"/>
                  </a:spcBef>
                  <a:buNone/>
                </a:pPr>
                <a:r>
                  <a:rPr lang="en-US" sz="2400" b="1" dirty="0"/>
                  <a:t>Analytical Solution (Linear Model Only)</a:t>
                </a:r>
              </a:p>
              <a:p>
                <a:pPr marL="0" indent="0">
                  <a:spcBef>
                    <a:spcPts val="150"/>
                  </a:spcBef>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𝑇</m:t>
                      </m:r>
                      <m:d>
                        <m:dPr>
                          <m:ctrlPr>
                            <a:rPr lang="en-US" sz="280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𝑇</m:t>
                          </m:r>
                        </m:e>
                        <m:sub>
                          <m:r>
                            <a:rPr lang="en-US" sz="2800" b="0" i="1" smtClean="0">
                              <a:latin typeface="Cambria Math" panose="02040503050406030204" pitchFamily="18" charset="0"/>
                            </a:rPr>
                            <m:t>𝑠𝑠</m:t>
                          </m:r>
                        </m:sub>
                      </m:sSub>
                      <m:r>
                        <a:rPr lang="en-US" sz="2800" b="0" i="1" smtClean="0">
                          <a:latin typeface="Cambria Math" panose="02040503050406030204" pitchFamily="18" charset="0"/>
                        </a:rPr>
                        <m:t>+(</m:t>
                      </m:r>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𝑇</m:t>
                          </m:r>
                        </m:e>
                        <m:sub>
                          <m:r>
                            <a:rPr lang="en-US" sz="2800" b="0" i="1" smtClean="0">
                              <a:latin typeface="Cambria Math" panose="02040503050406030204" pitchFamily="18" charset="0"/>
                            </a:rPr>
                            <m:t>0</m:t>
                          </m:r>
                        </m:sub>
                      </m:sSub>
                      <m:r>
                        <a:rPr lang="en-US" sz="2800" b="0" i="1" smtClean="0">
                          <a:latin typeface="Cambria Math" panose="02040503050406030204" pitchFamily="18" charset="0"/>
                        </a:rPr>
                        <m:t>−</m:t>
                      </m:r>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𝑇</m:t>
                          </m:r>
                        </m:e>
                        <m:sub>
                          <m:r>
                            <a:rPr lang="en-US" sz="2800" b="0" i="1" smtClean="0">
                              <a:latin typeface="Cambria Math" panose="02040503050406030204" pitchFamily="18" charset="0"/>
                            </a:rPr>
                            <m:t>𝑠𝑠</m:t>
                          </m:r>
                        </m:sub>
                      </m:sSub>
                      <m:r>
                        <a:rPr lang="en-US" sz="2800" b="0" i="1" smtClean="0">
                          <a:latin typeface="Cambria Math" panose="02040503050406030204" pitchFamily="18" charset="0"/>
                        </a:rPr>
                        <m:t>)</m:t>
                      </m:r>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𝑒</m:t>
                          </m:r>
                        </m:e>
                        <m:sup>
                          <m:r>
                            <a:rPr lang="en-US" sz="2800" b="0" i="1" smtClean="0">
                              <a:latin typeface="Cambria Math" panose="02040503050406030204" pitchFamily="18" charset="0"/>
                            </a:rPr>
                            <m:t>−</m:t>
                          </m:r>
                          <m:f>
                            <m:fPr>
                              <m:type m:val="skw"/>
                              <m:ctrlPr>
                                <a:rPr lang="en-US" sz="2800" i="1" smtClean="0">
                                  <a:latin typeface="Cambria Math" panose="02040503050406030204" pitchFamily="18" charset="0"/>
                                </a:rPr>
                              </m:ctrlPr>
                            </m:fPr>
                            <m:num>
                              <m:r>
                                <a:rPr lang="en-US" sz="2800" b="0" i="1" smtClean="0">
                                  <a:latin typeface="Cambria Math" panose="02040503050406030204" pitchFamily="18" charset="0"/>
                                </a:rPr>
                                <m:t>𝑡</m:t>
                              </m:r>
                            </m:num>
                            <m:den>
                              <m:r>
                                <a:rPr lang="en-US" sz="2800" b="0" i="1" smtClean="0">
                                  <a:latin typeface="Cambria Math" panose="02040503050406030204" pitchFamily="18" charset="0"/>
                                  <a:ea typeface="Cambria Math" panose="02040503050406030204" pitchFamily="18" charset="0"/>
                                </a:rPr>
                                <m:t>𝜏</m:t>
                              </m:r>
                            </m:den>
                          </m:f>
                        </m:sup>
                      </m:sSup>
                    </m:oMath>
                  </m:oMathPara>
                </a14:m>
                <a:endParaRPr lang="en-US" sz="2800" dirty="0"/>
              </a:p>
              <a:p>
                <a:pPr marL="0" indent="0">
                  <a:spcBef>
                    <a:spcPts val="150"/>
                  </a:spcBef>
                  <a:buNone/>
                </a:pPr>
                <a:r>
                  <a:rPr lang="en-US" sz="2000" dirty="0"/>
                  <a:t>Steady-state temperature: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𝑠𝑠</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𝑎𝑛𝑛</m:t>
                        </m:r>
                      </m:sub>
                    </m:sSub>
                    <m:r>
                      <a:rPr lang="en-US" sz="2000" b="0" i="1" smtClean="0">
                        <a:latin typeface="Cambria Math" panose="02040503050406030204" pitchFamily="18" charset="0"/>
                      </a:rPr>
                      <m:t>+</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𝑛</m:t>
                        </m:r>
                      </m:e>
                    </m:d>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𝐺</m:t>
                        </m:r>
                      </m:num>
                      <m:den>
                        <m:r>
                          <a:rPr lang="en-US" sz="2000" b="0" i="1" smtClean="0">
                            <a:latin typeface="Cambria Math" panose="02040503050406030204" pitchFamily="18" charset="0"/>
                            <a:ea typeface="Cambria Math" panose="02040503050406030204" pitchFamily="18" charset="0"/>
                          </a:rPr>
                          <m:t>h𝐴</m:t>
                        </m:r>
                      </m:den>
                    </m:f>
                    <m:r>
                      <a:rPr lang="en-US" sz="2000" b="0" i="1" smtClean="0">
                        <a:latin typeface="Cambria Math" panose="02040503050406030204" pitchFamily="18" charset="0"/>
                        <a:ea typeface="Cambria Math" panose="02040503050406030204" pitchFamily="18" charset="0"/>
                      </a:rPr>
                      <m:t>=346.15</m:t>
                    </m:r>
                  </m:oMath>
                </a14:m>
                <a:r>
                  <a:rPr lang="en-US" sz="2000" dirty="0"/>
                  <a:t>K</a:t>
                </a:r>
              </a:p>
              <a:p>
                <a:pPr marL="0" indent="0">
                  <a:spcBef>
                    <a:spcPts val="100"/>
                  </a:spcBef>
                  <a:buNone/>
                </a:pPr>
                <a:r>
                  <a:rPr lang="en-US" sz="2000" dirty="0"/>
                  <a:t>Thermal time constant</a:t>
                </a:r>
                <a:r>
                  <a:rPr lang="en-US" sz="2000" dirty="0">
                    <a:latin typeface="Cambria Math" panose="02040503050406030204" pitchFamily="18" charset="0"/>
                    <a:ea typeface="Cambria Math" panose="02040503050406030204" pitchFamily="18" charset="0"/>
                  </a:rPr>
                  <a:t>:  </a:t>
                </a:r>
                <a:r>
                  <a:rPr lang="en-US" sz="2000" i="1" dirty="0" err="1">
                    <a:latin typeface="Cambria Math" panose="02040503050406030204" pitchFamily="18" charset="0"/>
                    <a:ea typeface="Cambria Math" panose="02040503050406030204" pitchFamily="18" charset="0"/>
                  </a:rPr>
                  <a:t>τ</a:t>
                </a:r>
                <a:r>
                  <a:rPr lang="en-US" sz="2000" i="1" dirty="0">
                    <a:latin typeface="Cambria Math" panose="02040503050406030204" pitchFamily="18" charset="0"/>
                    <a:ea typeface="Cambria Math" panose="02040503050406030204" pitchFamily="18" charset="0"/>
                  </a:rPr>
                  <a:t> = mcₙ / (</a:t>
                </a:r>
                <a:r>
                  <a:rPr lang="en-US" sz="2000" i="1" dirty="0" err="1">
                    <a:latin typeface="Cambria Math" panose="02040503050406030204" pitchFamily="18" charset="0"/>
                    <a:ea typeface="Cambria Math" panose="02040503050406030204" pitchFamily="18" charset="0"/>
                  </a:rPr>
                  <a:t>hᴀA</a:t>
                </a:r>
                <a:r>
                  <a:rPr lang="en-US" sz="2000" i="1" dirty="0">
                    <a:latin typeface="Cambria Math" panose="02040503050406030204" pitchFamily="18" charset="0"/>
                    <a:ea typeface="Cambria Math" panose="02040503050406030204" pitchFamily="18" charset="0"/>
                  </a:rPr>
                  <a:t>) = (12×900) / (15×1.6) = 450 </a:t>
                </a:r>
                <a:r>
                  <a:rPr lang="en-US" sz="2000" dirty="0"/>
                  <a:t>s</a:t>
                </a:r>
              </a:p>
              <a:p>
                <a:pPr marL="0" indent="0">
                  <a:spcBef>
                    <a:spcPts val="100"/>
                  </a:spcBef>
                  <a:buNone/>
                </a:pPr>
                <a:r>
                  <a:rPr lang="en-US" sz="2000" dirty="0"/>
                  <a:t>The panel reaches ~63% of its final temperature rise after one time constant (</a:t>
                </a:r>
                <a:r>
                  <a:rPr lang="en-US" sz="2000" i="1" dirty="0"/>
                  <a:t>t = 450 </a:t>
                </a:r>
                <a:r>
                  <a:rPr lang="en-US" sz="2000" dirty="0"/>
                  <a:t>s) and is within 2% of steady state by </a:t>
                </a:r>
                <a:r>
                  <a:rPr lang="en-US" sz="2000" i="1" dirty="0"/>
                  <a:t>t ≈ 4τ = 1800 </a:t>
                </a:r>
                <a:r>
                  <a:rPr lang="en-US" sz="2000" dirty="0"/>
                  <a:t>s. This exact solution serves as the benchmark against which numerical method errors are measured.</a:t>
                </a:r>
              </a:p>
              <a:p>
                <a:pPr marL="0" indent="0">
                  <a:spcBef>
                    <a:spcPts val="300"/>
                  </a:spcBef>
                  <a:buNone/>
                </a:pPr>
                <a:r>
                  <a:rPr lang="en-US" sz="2400" b="1" dirty="0"/>
                  <a:t>Method 1 — Euler’s Method (First-Order)</a:t>
                </a:r>
              </a:p>
              <a:p>
                <a:pPr marL="0" indent="0" algn="ctr">
                  <a:spcBef>
                    <a:spcPts val="150"/>
                  </a:spcBef>
                  <a:buNone/>
                </a:pPr>
                <a:r>
                  <a:rPr lang="en-US" sz="2800" i="1" dirty="0">
                    <a:latin typeface="Cambria Math" panose="02040503050406030204" pitchFamily="18" charset="0"/>
                    <a:ea typeface="Cambria Math" panose="02040503050406030204" pitchFamily="18" charset="0"/>
                  </a:rPr>
                  <a:t>Tₙ₊₁ = Tₙ + h ⋅ f(tₙ, Tₙ)</a:t>
                </a:r>
              </a:p>
              <a:p>
                <a:pPr marL="0" indent="0">
                  <a:spcBef>
                    <a:spcPts val="150"/>
                  </a:spcBef>
                  <a:buNone/>
                </a:pPr>
                <a:r>
                  <a:rPr lang="en-US" sz="2000" dirty="0"/>
                  <a:t>Euler’s method approximates the solution by advancing along the tangent line at the current point using step size h. It is derived from the first two terms of the Taylor series: </a:t>
                </a:r>
                <a:r>
                  <a:rPr lang="en-US" sz="2000" i="1" dirty="0">
                    <a:latin typeface="Cambria Math" panose="02040503050406030204" pitchFamily="18" charset="0"/>
                    <a:ea typeface="Cambria Math" panose="02040503050406030204" pitchFamily="18" charset="0"/>
                  </a:rPr>
                  <a:t>T(</a:t>
                </a:r>
                <a:r>
                  <a:rPr lang="en-US" sz="2000" i="1" dirty="0" err="1">
                    <a:latin typeface="Cambria Math" panose="02040503050406030204" pitchFamily="18" charset="0"/>
                    <a:ea typeface="Cambria Math" panose="02040503050406030204" pitchFamily="18" charset="0"/>
                  </a:rPr>
                  <a:t>t+h</a:t>
                </a:r>
                <a:r>
                  <a:rPr lang="en-US" sz="2000" i="1" dirty="0">
                    <a:latin typeface="Cambria Math" panose="02040503050406030204" pitchFamily="18" charset="0"/>
                    <a:ea typeface="Cambria Math" panose="02040503050406030204" pitchFamily="18" charset="0"/>
                  </a:rPr>
                  <a:t>) ≈ T(t) + </a:t>
                </a:r>
                <a:r>
                  <a:rPr lang="en-US" sz="2000" i="1" dirty="0" err="1">
                    <a:latin typeface="Cambria Math" panose="02040503050406030204" pitchFamily="18" charset="0"/>
                    <a:ea typeface="Cambria Math" panose="02040503050406030204" pitchFamily="18" charset="0"/>
                  </a:rPr>
                  <a:t>hT</a:t>
                </a:r>
                <a:r>
                  <a:rPr lang="en-US" sz="2000" i="1" dirty="0">
                    <a:latin typeface="Cambria Math" panose="02040503050406030204" pitchFamily="18" charset="0"/>
                    <a:ea typeface="Cambria Math" panose="02040503050406030204" pitchFamily="18" charset="0"/>
                  </a:rPr>
                  <a:t>’(t)</a:t>
                </a:r>
                <a:r>
                  <a:rPr lang="en-US" sz="2000" dirty="0"/>
                  <a:t>. The local truncation error is O(h²) per step, and the global error accumulates to O(h) over the interval. Because only the slope at the left endpoint is used, the method consistently overshoots on concave-down portions of the solution curve.</a:t>
                </a:r>
                <a:endParaRPr lang="en-US" sz="1800" dirty="0"/>
              </a:p>
              <a:p>
                <a:pPr marL="0" indent="0">
                  <a:spcBef>
                    <a:spcPts val="300"/>
                  </a:spcBef>
                  <a:buNone/>
                </a:pPr>
                <a:r>
                  <a:rPr lang="en-US" sz="2400" b="1" dirty="0"/>
                  <a:t>Method 2 — Improved Euler / Heun’s Method (Second-Order)</a:t>
                </a:r>
              </a:p>
              <a:p>
                <a:pPr marL="0" indent="0">
                  <a:spcBef>
                    <a:spcPts val="150"/>
                  </a:spcBef>
                  <a:buNone/>
                </a:pPr>
                <a:r>
                  <a:rPr lang="en-US" sz="2000" i="1" dirty="0">
                    <a:latin typeface="Cambria Math" panose="02040503050406030204" pitchFamily="18" charset="0"/>
                    <a:ea typeface="Cambria Math" panose="02040503050406030204" pitchFamily="18" charset="0"/>
                  </a:rPr>
                  <a:t>k₁ = f(tₙ, Tₙ)</a:t>
                </a:r>
                <a:r>
                  <a:rPr lang="en-US" sz="2000" dirty="0"/>
                  <a:t>     (slope at current point)</a:t>
                </a:r>
              </a:p>
              <a:p>
                <a:pPr marL="0" indent="0">
                  <a:spcBef>
                    <a:spcPts val="100"/>
                  </a:spcBef>
                  <a:buNone/>
                </a:pPr>
                <a:r>
                  <a:rPr lang="en-US" sz="2000" i="1" dirty="0">
                    <a:latin typeface="Cambria Math" panose="02040503050406030204" pitchFamily="18" charset="0"/>
                    <a:ea typeface="Cambria Math" panose="02040503050406030204" pitchFamily="18" charset="0"/>
                  </a:rPr>
                  <a:t>k₂ = f(tₙ+h, Tₙ+</a:t>
                </a:r>
                <a:r>
                  <a:rPr lang="en-US" sz="2000" i="1" dirty="0" err="1">
                    <a:latin typeface="Cambria Math" panose="02040503050406030204" pitchFamily="18" charset="0"/>
                    <a:ea typeface="Cambria Math" panose="02040503050406030204" pitchFamily="18" charset="0"/>
                  </a:rPr>
                  <a:t>h⋅k</a:t>
                </a:r>
                <a:r>
                  <a:rPr lang="en-US" sz="2000" i="1" dirty="0">
                    <a:latin typeface="Cambria Math" panose="02040503050406030204" pitchFamily="18" charset="0"/>
                    <a:ea typeface="Cambria Math" panose="02040503050406030204" pitchFamily="18" charset="0"/>
                  </a:rPr>
                  <a:t>₁)     </a:t>
                </a:r>
                <a:r>
                  <a:rPr lang="en-US" sz="2000" dirty="0"/>
                  <a:t>(slope at predicted endpoint)</a:t>
                </a:r>
              </a:p>
              <a:p>
                <a:pPr marL="0" indent="0">
                  <a:spcBef>
                    <a:spcPts val="100"/>
                  </a:spcBef>
                  <a:buNone/>
                </a:pPr>
                <a:r>
                  <a:rPr lang="en-US" sz="2000" i="1" dirty="0">
                    <a:latin typeface="Cambria Math" panose="02040503050406030204" pitchFamily="18" charset="0"/>
                    <a:ea typeface="Cambria Math" panose="02040503050406030204" pitchFamily="18" charset="0"/>
                  </a:rPr>
                  <a:t>Tₙ₊₁ = Tₙ + (h/2)(k₁ + k₂)</a:t>
                </a:r>
                <a:r>
                  <a:rPr lang="en-US" sz="2000" dirty="0"/>
                  <a:t>     (corrected step)</a:t>
                </a:r>
              </a:p>
              <a:p>
                <a:pPr marL="0" indent="0">
                  <a:spcBef>
                    <a:spcPts val="150"/>
                  </a:spcBef>
                  <a:buNone/>
                </a:pPr>
                <a:r>
                  <a:rPr lang="en-US" sz="2000" dirty="0"/>
                  <a:t>Heun’s method is a predictor-corrector scheme: it first takes a full Euler step (the predictor) to estimate T at </a:t>
                </a:r>
                <a:r>
                  <a:rPr lang="en-US" sz="2000" dirty="0" err="1"/>
                  <a:t>t+h</a:t>
                </a:r>
                <a:r>
                  <a:rPr lang="en-US" sz="2000" dirty="0"/>
                  <a:t>, then evaluates the slope there, and finally advances using the average of the two slopes (the corrector). This averages out the overshoot of a single Euler step. The local truncation error is O(h³) and global error is O(h²), one order better than forward Euler. Because it requires two function evaluations per step, the computational cost is roughly double, but accuracy improves far more proportionally.</a:t>
                </a:r>
              </a:p>
              <a:p>
                <a:pPr marL="0" indent="0">
                  <a:spcBef>
                    <a:spcPts val="300"/>
                  </a:spcBef>
                  <a:buNone/>
                </a:pPr>
                <a:r>
                  <a:rPr lang="en-US" sz="2400" b="1" dirty="0"/>
                  <a:t>Method 3 — Direction Field (Vector Field)</a:t>
                </a:r>
              </a:p>
              <a:p>
                <a:pPr marL="0" indent="0">
                  <a:spcBef>
                    <a:spcPts val="150"/>
                  </a:spcBef>
                  <a:buNone/>
                </a:pPr>
                <a:r>
                  <a:rPr lang="en-US" sz="2000" dirty="0"/>
                  <a:t>A direction field (slope field) visualizes the ODE without solving it. At each grid point (t, T), the slope dT/dt is evaluated directly from the right-hand side of the ODE and plotted as a short arrow. GNU Plot’s parametric plotting mode was used to draw arrows of uniform visual length scaled to the magnitude of dT/dt. The resulting field reveals the qualitative behavior of all solution curves simultaneously: arrows point upward (</a:t>
                </a:r>
                <a:r>
                  <a:rPr lang="en-US" sz="2000" i="1" dirty="0">
                    <a:latin typeface="Cambria Math" panose="02040503050406030204" pitchFamily="18" charset="0"/>
                    <a:ea typeface="Cambria Math" panose="02040503050406030204" pitchFamily="18" charset="0"/>
                  </a:rPr>
                  <a:t>dT/dt</a:t>
                </a:r>
                <a:r>
                  <a:rPr lang="en-US" sz="2000" dirty="0"/>
                  <a:t> &gt; 0) below the equilibrium and downward (</a:t>
                </a:r>
                <a:r>
                  <a:rPr lang="en-US" sz="2000" i="1" dirty="0">
                    <a:latin typeface="Cambria Math" panose="02040503050406030204" pitchFamily="18" charset="0"/>
                    <a:ea typeface="Cambria Math" panose="02040503050406030204" pitchFamily="18" charset="0"/>
                  </a:rPr>
                  <a:t>dT/dt </a:t>
                </a:r>
                <a:r>
                  <a:rPr lang="en-US" sz="2000" dirty="0"/>
                  <a:t>&lt; 0) above it, showing that the equilibrium temperature is a stable attractor.</a:t>
                </a:r>
              </a:p>
              <a:p>
                <a:pPr marL="0" indent="0">
                  <a:spcBef>
                    <a:spcPts val="300"/>
                  </a:spcBef>
                  <a:buNone/>
                </a:pPr>
                <a:r>
                  <a:rPr lang="en-US" sz="2400" b="1" dirty="0"/>
                  <a:t>Physical Parameters</a:t>
                </a:r>
              </a:p>
              <a:p>
                <a:pPr marL="0" indent="0">
                  <a:spcBef>
                    <a:spcPts val="150"/>
                  </a:spcBef>
                  <a:buNone/>
                </a:pPr>
                <a:endParaRPr lang="en-US" sz="2000" dirty="0"/>
              </a:p>
              <a:p>
                <a:pPr marL="0" indent="0">
                  <a:spcBef>
                    <a:spcPts val="300"/>
                  </a:spcBef>
                  <a:buNone/>
                </a:pPr>
                <a:endParaRPr lang="en-US" sz="2000" b="1" dirty="0"/>
              </a:p>
              <a:p>
                <a:pPr marL="0" indent="0">
                  <a:spcBef>
                    <a:spcPts val="300"/>
                  </a:spcBef>
                  <a:buNone/>
                </a:pPr>
                <a:endParaRPr lang="en-US" sz="2000" b="1" dirty="0"/>
              </a:p>
              <a:p>
                <a:pPr marL="0" indent="0">
                  <a:spcBef>
                    <a:spcPts val="300"/>
                  </a:spcBef>
                  <a:buNone/>
                </a:pPr>
                <a:endParaRPr lang="en-US" sz="2000" b="1" dirty="0"/>
              </a:p>
              <a:p>
                <a:pPr marL="0" indent="0">
                  <a:spcBef>
                    <a:spcPts val="300"/>
                  </a:spcBef>
                  <a:buNone/>
                </a:pPr>
                <a:endParaRPr lang="en-US" sz="2000" b="1" dirty="0"/>
              </a:p>
              <a:p>
                <a:pPr marL="0" indent="0">
                  <a:spcBef>
                    <a:spcPts val="300"/>
                  </a:spcBef>
                  <a:buNone/>
                </a:pPr>
                <a:endParaRPr lang="en-US" sz="2000" b="1" dirty="0"/>
              </a:p>
              <a:p>
                <a:pPr marL="0" indent="0">
                  <a:spcBef>
                    <a:spcPts val="300"/>
                  </a:spcBef>
                  <a:buNone/>
                </a:pPr>
                <a:endParaRPr lang="en-US" sz="2000" b="1" dirty="0"/>
              </a:p>
              <a:p>
                <a:pPr marL="0" indent="0">
                  <a:spcBef>
                    <a:spcPts val="300"/>
                  </a:spcBef>
                  <a:buNone/>
                </a:pPr>
                <a:endParaRPr lang="en-US" sz="2000" b="1" dirty="0"/>
              </a:p>
              <a:p>
                <a:pPr marL="0" indent="0">
                  <a:spcBef>
                    <a:spcPts val="300"/>
                  </a:spcBef>
                  <a:buNone/>
                </a:pPr>
                <a:endParaRPr lang="en-US" sz="2000" b="1" dirty="0"/>
              </a:p>
              <a:p>
                <a:pPr marL="0" indent="0">
                  <a:spcBef>
                    <a:spcPts val="300"/>
                  </a:spcBef>
                  <a:buNone/>
                </a:pPr>
                <a:endParaRPr lang="en-US" sz="2000" b="1" dirty="0"/>
              </a:p>
              <a:p>
                <a:pPr marL="0" indent="0">
                  <a:spcBef>
                    <a:spcPts val="300"/>
                  </a:spcBef>
                  <a:buNone/>
                </a:pPr>
                <a:endParaRPr lang="en-US" sz="2000" b="1" dirty="0"/>
              </a:p>
              <a:p>
                <a:pPr marL="0" indent="0">
                  <a:spcBef>
                    <a:spcPts val="300"/>
                  </a:spcBef>
                  <a:buNone/>
                </a:pPr>
                <a:endParaRPr lang="en-US" sz="2000" b="1" dirty="0"/>
              </a:p>
              <a:p>
                <a:pPr marL="0" indent="0">
                  <a:spcBef>
                    <a:spcPts val="300"/>
                  </a:spcBef>
                  <a:buNone/>
                </a:pPr>
                <a:endParaRPr lang="en-US" sz="2000" b="1" dirty="0"/>
              </a:p>
              <a:p>
                <a:pPr marL="0" indent="0">
                  <a:spcBef>
                    <a:spcPts val="300"/>
                  </a:spcBef>
                  <a:buNone/>
                </a:pPr>
                <a:endParaRPr lang="en-US" sz="2000" b="1" dirty="0"/>
              </a:p>
              <a:p>
                <a:pPr marL="0" indent="0" algn="ctr">
                  <a:lnSpc>
                    <a:spcPct val="100000"/>
                  </a:lnSpc>
                  <a:spcBef>
                    <a:spcPts val="0"/>
                  </a:spcBef>
                  <a:buClr>
                    <a:schemeClr val="dk1"/>
                  </a:buClr>
                  <a:buSzPts val="3939"/>
                  <a:buNone/>
                </a:pPr>
                <a:endParaRPr lang="en-US" sz="2375" b="1" dirty="0"/>
              </a:p>
            </p:txBody>
          </p:sp>
        </mc:Choice>
        <mc:Fallback>
          <p:sp>
            <p:nvSpPr>
              <p:cNvPr id="88" name="Google Shape;88;g39de938f8a0_3_219"/>
              <p:cNvSpPr txBox="1">
                <a:spLocks noGrp="1" noRot="1" noChangeAspect="1" noMove="1" noResize="1" noEditPoints="1" noAdjustHandles="1" noChangeArrowheads="1" noChangeShapeType="1" noTextEdit="1"/>
              </p:cNvSpPr>
              <p:nvPr>
                <p:ph sz="half" idx="2"/>
              </p:nvPr>
            </p:nvSpPr>
            <p:spPr>
              <a:xfrm>
                <a:off x="239388" y="8015664"/>
                <a:ext cx="11142982" cy="23939193"/>
              </a:xfrm>
              <a:prstGeom prst="rect">
                <a:avLst/>
              </a:prstGeom>
              <a:blipFill>
                <a:blip r:embed="rId3"/>
                <a:stretch>
                  <a:fillRect/>
                </a:stretch>
              </a:blipFill>
              <a:ln w="50165" cap="flat" cmpd="sng">
                <a:solidFill>
                  <a:schemeClr val="dk1"/>
                </a:solidFill>
                <a:prstDash val="solid"/>
                <a:round/>
                <a:headEnd type="none" w="sm" len="sm"/>
                <a:tailEnd type="none" w="sm" len="sm"/>
              </a:ln>
            </p:spPr>
            <p:txBody>
              <a:bodyPr/>
              <a:lstStyle/>
              <a:p>
                <a:r>
                  <a:rPr lang="en-US">
                    <a:noFill/>
                  </a:rPr>
                  <a:t> </a:t>
                </a:r>
              </a:p>
            </p:txBody>
          </p:sp>
        </mc:Fallback>
      </mc:AlternateContent>
      <p:sp>
        <p:nvSpPr>
          <p:cNvPr id="108" name="Google Shape;108;g39de938f8a0_3_219"/>
          <p:cNvSpPr txBox="1">
            <a:spLocks noGrp="1"/>
          </p:cNvSpPr>
          <p:nvPr>
            <p:ph type="body" sz="quarter" idx="3"/>
          </p:nvPr>
        </p:nvSpPr>
        <p:spPr>
          <a:xfrm>
            <a:off x="11791917" y="18834841"/>
            <a:ext cx="26330014" cy="6586506"/>
          </a:xfrm>
          <a:prstGeom prst="rect">
            <a:avLst/>
          </a:prstGeom>
          <a:solidFill>
            <a:schemeClr val="lt1"/>
          </a:solidFill>
          <a:ln w="50165" cap="rnd" cmpd="sng">
            <a:solidFill>
              <a:schemeClr val="dk1"/>
            </a:solidFill>
            <a:prstDash val="solid"/>
            <a:round/>
            <a:headEnd type="none" w="sm" len="sm"/>
            <a:tailEnd type="none" w="sm" len="sm"/>
          </a:ln>
        </p:spPr>
        <p:txBody>
          <a:bodyPr spcFirstLastPara="1" vert="horz" wrap="square" lIns="264940" tIns="158952" rIns="264940" bIns="264940" rtlCol="0" anchor="t" anchorCtr="0">
            <a:noAutofit/>
          </a:bodyPr>
          <a:lstStyle/>
          <a:p>
            <a:pPr marL="221968" indent="-221968">
              <a:spcBef>
                <a:spcPts val="696"/>
              </a:spcBef>
              <a:buSzPct val="100000"/>
            </a:pPr>
            <a:endParaRPr lang="en-US" sz="1200" dirty="0"/>
          </a:p>
          <a:p>
            <a:pPr marL="221968" indent="-221968">
              <a:spcBef>
                <a:spcPts val="696"/>
              </a:spcBef>
              <a:buSzPct val="100000"/>
            </a:pPr>
            <a:endParaRPr lang="en-US" sz="1200" dirty="0"/>
          </a:p>
          <a:p>
            <a:pPr>
              <a:spcBef>
                <a:spcPts val="300"/>
              </a:spcBef>
            </a:pPr>
            <a:r>
              <a:rPr lang="en-US" sz="2400" dirty="0"/>
              <a:t>Accuracy, Step Size, Error Profile &amp; Physical Interpretation</a:t>
            </a:r>
          </a:p>
          <a:p>
            <a:pPr>
              <a:spcBef>
                <a:spcPts val="150"/>
              </a:spcBef>
            </a:pPr>
            <a:r>
              <a:rPr lang="en-US" sz="1800" b="0" dirty="0"/>
              <a:t>           Three step sizes were tested; </a:t>
            </a:r>
            <a:r>
              <a:rPr lang="en-US" sz="1800" dirty="0"/>
              <a:t>figure a</a:t>
            </a:r>
            <a:r>
              <a:rPr lang="en-US" sz="1800" b="0" dirty="0"/>
              <a:t>: h = 100 s (37 points), </a:t>
            </a:r>
            <a:r>
              <a:rPr lang="en-US" sz="1800" dirty="0"/>
              <a:t>figure b</a:t>
            </a:r>
            <a:r>
              <a:rPr lang="en-US" sz="1800" b="0" dirty="0"/>
              <a:t>: h = 50 s (73 points), and </a:t>
            </a:r>
            <a:r>
              <a:rPr lang="en-US" sz="1800" dirty="0"/>
              <a:t>figure c</a:t>
            </a:r>
            <a:r>
              <a:rPr lang="en-US" sz="1800" b="0" dirty="0"/>
              <a:t>: h = 10 s (361 points). For the linear ODE, Euler’s peak absolute error vs. the exact solution was 2.15 K, 1.05 K, and 0.19 K respectively. Halving h from 100 s to 50 s reduced Euler error by a factor of ~2.05, and further reduction to 10 s reduced it by ~5.5×. This is consistent with O(h) (first-order) convergence. Improved Euler’s peak errors were 0.15 K, 0.04 K, and 0.002 K, that’s a reduction of ~3.8× and ~20× respectively clearly demonstrating O(h²) (second-order) convergence. These results confirm the theoretical prediction that doubling the number of integration points should reduce Improved Euler error by approximately 4×.</a:t>
            </a:r>
          </a:p>
          <a:p>
            <a:pPr>
              <a:spcBef>
                <a:spcPts val="150"/>
              </a:spcBef>
            </a:pPr>
            <a:r>
              <a:rPr lang="en-US" sz="1800" b="0" dirty="0"/>
              <a:t>           The absolute error does not grow indefinitely but instead rises to a maximum near t ≈ 400–500 s and then decays back toward zero as the panel approaches steady state. This bell-shaped error profile is a direct consequence of the ODE’s decaying transient: during the steep initial rise, each step accumulates the largest per-step error; as the solution flattens near Tₛₛ, the slope f(</a:t>
            </a:r>
            <a:r>
              <a:rPr lang="en-US" sz="1800" b="0" dirty="0" err="1"/>
              <a:t>t,T</a:t>
            </a:r>
            <a:r>
              <a:rPr lang="en-US" sz="1800" b="0" dirty="0"/>
              <a:t>) → 0, so subsequent steps add negligible error and the trajectory asymptotes to the same steady state regardless of method. The peak error location (t ≈ </a:t>
            </a:r>
            <a:r>
              <a:rPr lang="en-US" sz="1800" b="0" dirty="0" err="1"/>
              <a:t>τ</a:t>
            </a:r>
            <a:r>
              <a:rPr lang="en-US" sz="1800" b="0" dirty="0"/>
              <a:t> = 450 s) coincides with the inflection region of the solution, where curvature is greatest.</a:t>
            </a:r>
          </a:p>
          <a:p>
            <a:pPr>
              <a:spcBef>
                <a:spcPts val="150"/>
              </a:spcBef>
            </a:pPr>
            <a:r>
              <a:rPr lang="en-US" sz="1800" b="0" dirty="0"/>
              <a:t>           The linear model predicts a steady-state panel temperature of Tₛₛ = 346.15 K (73°C). Adding the radiation term in the nonlinear model lowers this to approximately 327 K (54°C). This is physically significant: silicon PV cell efficiency decreases by approximately 0.4–0.5% per degree Celsius above 25°C. A 19 K overestimate of the panel temperature by the linear model would translate to a ~7.6–9.5% overprediction of efficiency loss. The nonlinear model is therefore the more realistic representation of true panel operating temperatures.</a:t>
            </a:r>
          </a:p>
          <a:p>
            <a:pPr>
              <a:spcBef>
                <a:spcPts val="250"/>
              </a:spcBef>
            </a:pPr>
            <a:r>
              <a:rPr lang="en-US" sz="2400" dirty="0"/>
              <a:t>Direction Field Analysis</a:t>
            </a:r>
          </a:p>
          <a:p>
            <a:pPr>
              <a:spcBef>
                <a:spcPts val="150"/>
              </a:spcBef>
            </a:pPr>
            <a:r>
              <a:rPr lang="en-US" sz="1800" b="0" dirty="0"/>
              <a:t>            Both direction fields (</a:t>
            </a:r>
            <a:r>
              <a:rPr lang="en-US" sz="1800" dirty="0"/>
              <a:t>figure d, figure e</a:t>
            </a:r>
            <a:r>
              <a:rPr lang="en-US" sz="1800" b="0" dirty="0"/>
              <a:t>) show that the equilibrium is a global stable attractor: all arrows below Tₛₛ point upward and to the right, while those above point downward and to the right. No solution can diverge. The linear field shows nearly uniform arrow angles at a given height confirming the system is autonomous. In the nonlinear field, the arrows at the same T are identical across time for the same reason, but the transition from strongly upward (near T₀) to horizontal (near 327 K) is sharper than in the linear case, reflecting the accelerated energy dissipation from the T⁴ term at elevated temperatures. Arrows above ~360 K angle steeply downward in the nonlinear field but only moderately in the linear field, illustrating how radiation creates a stronger restoring force at high temperatures.</a:t>
            </a:r>
          </a:p>
          <a:p>
            <a:pPr>
              <a:spcBef>
                <a:spcPts val="250"/>
              </a:spcBef>
            </a:pPr>
            <a:r>
              <a:rPr lang="en-US" sz="2400" dirty="0"/>
              <a:t>Practical Implications for Solar Panel Design</a:t>
            </a:r>
          </a:p>
          <a:p>
            <a:pPr>
              <a:spcBef>
                <a:spcPts val="150"/>
              </a:spcBef>
            </a:pPr>
            <a:r>
              <a:rPr lang="en-US" sz="1800" b="0" dirty="0"/>
              <a:t>           Panel temperature at steady state has direct consequences for energy output. The nominal power coefficient for crystalline silicon is −0.45%/°C. At the linear-model steady state of 73°C vs. the 25°C STC reference, the panel would operate at 100% − 0.45%×(73−25) = 78.4% of rated power. Using the nonlinear model’s 54°C yields 100% − 0.45%×(54−25) = 87.0%. This results in nearly a 9 percentage-point difference in predicted output. This underscores the value of physically complete models: omitting radiation leads to a systematic underestimate of real-world energy yield. Future experimental validation would allow calibration of the convection coefficient hᴀ and emissivity </a:t>
            </a:r>
            <a:r>
              <a:rPr lang="en-US" sz="1800" b="0" dirty="0" err="1"/>
              <a:t>ε</a:t>
            </a:r>
            <a:r>
              <a:rPr lang="en-US" sz="1800" b="0" dirty="0"/>
              <a:t>, which are the primary sources of model uncertainty.</a:t>
            </a:r>
          </a:p>
        </p:txBody>
      </p:sp>
      <p:sp>
        <p:nvSpPr>
          <p:cNvPr id="84" name="Google Shape;84;g39de938f8a0_3_219"/>
          <p:cNvSpPr/>
          <p:nvPr/>
        </p:nvSpPr>
        <p:spPr>
          <a:xfrm>
            <a:off x="-6" y="3072814"/>
            <a:ext cx="38529747" cy="30323581"/>
          </a:xfrm>
          <a:prstGeom prst="rect">
            <a:avLst/>
          </a:prstGeom>
          <a:noFill/>
          <a:ln w="22725" cap="flat" cmpd="sng">
            <a:solidFill>
              <a:srgbClr val="C41E3A"/>
            </a:solidFill>
            <a:prstDash val="solid"/>
            <a:round/>
            <a:headEnd type="none" w="sm" len="sm"/>
            <a:tailEnd type="none" w="sm" len="sm"/>
          </a:ln>
        </p:spPr>
        <p:txBody>
          <a:bodyPr spcFirstLastPara="1" wrap="square" lIns="52977" tIns="26488" rIns="52977" bIns="26488" anchor="ctr" anchorCtr="0">
            <a:noAutofit/>
          </a:bodyPr>
          <a:lstStyle/>
          <a:p>
            <a:pPr algn="ctr"/>
            <a:endParaRPr sz="4360">
              <a:solidFill>
                <a:schemeClr val="lt1"/>
              </a:solidFill>
              <a:latin typeface="Calibri"/>
              <a:ea typeface="Calibri"/>
              <a:cs typeface="Calibri"/>
              <a:sym typeface="Calibri"/>
            </a:endParaRPr>
          </a:p>
        </p:txBody>
      </p:sp>
      <p:sp>
        <p:nvSpPr>
          <p:cNvPr id="33" name="Google Shape;108;g39de938f8a0_3_219">
            <a:extLst>
              <a:ext uri="{FF2B5EF4-FFF2-40B4-BE49-F238E27FC236}">
                <a16:creationId xmlns:a16="http://schemas.microsoft.com/office/drawing/2014/main" id="{1B1DEDB7-4BB3-544E-42B4-57570C8F8C19}"/>
              </a:ext>
            </a:extLst>
          </p:cNvPr>
          <p:cNvSpPr txBox="1">
            <a:spLocks/>
          </p:cNvSpPr>
          <p:nvPr/>
        </p:nvSpPr>
        <p:spPr>
          <a:xfrm>
            <a:off x="11791917" y="25614879"/>
            <a:ext cx="26330014" cy="5813209"/>
          </a:xfrm>
          <a:prstGeom prst="rect">
            <a:avLst/>
          </a:prstGeom>
          <a:solidFill>
            <a:schemeClr val="lt1"/>
          </a:solidFill>
          <a:ln w="50165" cap="rnd" cmpd="sng">
            <a:solidFill>
              <a:schemeClr val="dk1"/>
            </a:solidFill>
            <a:prstDash val="solid"/>
            <a:round/>
            <a:headEnd type="none" w="sm" len="sm"/>
            <a:tailEnd type="none" w="sm" len="sm"/>
          </a:ln>
        </p:spPr>
        <p:txBody>
          <a:bodyPr spcFirstLastPara="1" vert="horz" wrap="square" lIns="264940" tIns="158952" rIns="264940" bIns="264940" rtlCol="0" anchor="t" anchorCtr="0">
            <a:noAutofit/>
          </a:bodyPr>
          <a:lstStyle>
            <a:lvl1pPr marL="0" indent="0" algn="l" defTabSz="3840480" rtl="0" eaLnBrk="1" latinLnBrk="0" hangingPunct="1">
              <a:lnSpc>
                <a:spcPct val="90000"/>
              </a:lnSpc>
              <a:spcBef>
                <a:spcPts val="4200"/>
              </a:spcBef>
              <a:buFont typeface="Arial" panose="020B0604020202020204" pitchFamily="34" charset="0"/>
              <a:buNone/>
              <a:defRPr sz="10080" b="1" kern="1200">
                <a:solidFill>
                  <a:schemeClr val="tx1"/>
                </a:solidFill>
                <a:latin typeface="+mn-lt"/>
                <a:ea typeface="+mn-ea"/>
                <a:cs typeface="+mn-cs"/>
              </a:defRPr>
            </a:lvl1pPr>
            <a:lvl2pPr marL="1920240" indent="0" algn="l" defTabSz="3840480" rtl="0" eaLnBrk="1" latinLnBrk="0" hangingPunct="1">
              <a:lnSpc>
                <a:spcPct val="90000"/>
              </a:lnSpc>
              <a:spcBef>
                <a:spcPts val="2100"/>
              </a:spcBef>
              <a:buFont typeface="Arial" panose="020B0604020202020204" pitchFamily="34" charset="0"/>
              <a:buNone/>
              <a:defRPr sz="8400" b="1" kern="1200">
                <a:solidFill>
                  <a:schemeClr val="tx1"/>
                </a:solidFill>
                <a:latin typeface="+mn-lt"/>
                <a:ea typeface="+mn-ea"/>
                <a:cs typeface="+mn-cs"/>
              </a:defRPr>
            </a:lvl2pPr>
            <a:lvl3pPr marL="3840480" indent="0" algn="l" defTabSz="3840480" rtl="0" eaLnBrk="1" latinLnBrk="0" hangingPunct="1">
              <a:lnSpc>
                <a:spcPct val="90000"/>
              </a:lnSpc>
              <a:spcBef>
                <a:spcPts val="2100"/>
              </a:spcBef>
              <a:buFont typeface="Arial" panose="020B0604020202020204" pitchFamily="34" charset="0"/>
              <a:buNone/>
              <a:defRPr sz="7560" b="1" kern="1200">
                <a:solidFill>
                  <a:schemeClr val="tx1"/>
                </a:solidFill>
                <a:latin typeface="+mn-lt"/>
                <a:ea typeface="+mn-ea"/>
                <a:cs typeface="+mn-cs"/>
              </a:defRPr>
            </a:lvl3pPr>
            <a:lvl4pPr marL="5760720" indent="0" algn="l" defTabSz="3840480" rtl="0" eaLnBrk="1" latinLnBrk="0" hangingPunct="1">
              <a:lnSpc>
                <a:spcPct val="90000"/>
              </a:lnSpc>
              <a:spcBef>
                <a:spcPts val="2100"/>
              </a:spcBef>
              <a:buFont typeface="Arial" panose="020B0604020202020204" pitchFamily="34" charset="0"/>
              <a:buNone/>
              <a:defRPr sz="6720" b="1" kern="1200">
                <a:solidFill>
                  <a:schemeClr val="tx1"/>
                </a:solidFill>
                <a:latin typeface="+mn-lt"/>
                <a:ea typeface="+mn-ea"/>
                <a:cs typeface="+mn-cs"/>
              </a:defRPr>
            </a:lvl4pPr>
            <a:lvl5pPr marL="7680960" indent="0" algn="l" defTabSz="3840480" rtl="0" eaLnBrk="1" latinLnBrk="0" hangingPunct="1">
              <a:lnSpc>
                <a:spcPct val="90000"/>
              </a:lnSpc>
              <a:spcBef>
                <a:spcPts val="2100"/>
              </a:spcBef>
              <a:buFont typeface="Arial" panose="020B0604020202020204" pitchFamily="34" charset="0"/>
              <a:buNone/>
              <a:defRPr sz="6720" b="1" kern="1200">
                <a:solidFill>
                  <a:schemeClr val="tx1"/>
                </a:solidFill>
                <a:latin typeface="+mn-lt"/>
                <a:ea typeface="+mn-ea"/>
                <a:cs typeface="+mn-cs"/>
              </a:defRPr>
            </a:lvl5pPr>
            <a:lvl6pPr marL="9601200" indent="0" algn="l" defTabSz="3840480" rtl="0" eaLnBrk="1" latinLnBrk="0" hangingPunct="1">
              <a:lnSpc>
                <a:spcPct val="90000"/>
              </a:lnSpc>
              <a:spcBef>
                <a:spcPts val="2100"/>
              </a:spcBef>
              <a:buFont typeface="Arial" panose="020B0604020202020204" pitchFamily="34" charset="0"/>
              <a:buNone/>
              <a:defRPr sz="6720" b="1" kern="1200">
                <a:solidFill>
                  <a:schemeClr val="tx1"/>
                </a:solidFill>
                <a:latin typeface="+mn-lt"/>
                <a:ea typeface="+mn-ea"/>
                <a:cs typeface="+mn-cs"/>
              </a:defRPr>
            </a:lvl6pPr>
            <a:lvl7pPr marL="11521440" indent="0" algn="l" defTabSz="3840480" rtl="0" eaLnBrk="1" latinLnBrk="0" hangingPunct="1">
              <a:lnSpc>
                <a:spcPct val="90000"/>
              </a:lnSpc>
              <a:spcBef>
                <a:spcPts val="2100"/>
              </a:spcBef>
              <a:buFont typeface="Arial" panose="020B0604020202020204" pitchFamily="34" charset="0"/>
              <a:buNone/>
              <a:defRPr sz="6720" b="1" kern="1200">
                <a:solidFill>
                  <a:schemeClr val="tx1"/>
                </a:solidFill>
                <a:latin typeface="+mn-lt"/>
                <a:ea typeface="+mn-ea"/>
                <a:cs typeface="+mn-cs"/>
              </a:defRPr>
            </a:lvl7pPr>
            <a:lvl8pPr marL="13441680" indent="0" algn="l" defTabSz="3840480" rtl="0" eaLnBrk="1" latinLnBrk="0" hangingPunct="1">
              <a:lnSpc>
                <a:spcPct val="90000"/>
              </a:lnSpc>
              <a:spcBef>
                <a:spcPts val="2100"/>
              </a:spcBef>
              <a:buFont typeface="Arial" panose="020B0604020202020204" pitchFamily="34" charset="0"/>
              <a:buNone/>
              <a:defRPr sz="6720" b="1" kern="1200">
                <a:solidFill>
                  <a:schemeClr val="tx1"/>
                </a:solidFill>
                <a:latin typeface="+mn-lt"/>
                <a:ea typeface="+mn-ea"/>
                <a:cs typeface="+mn-cs"/>
              </a:defRPr>
            </a:lvl8pPr>
            <a:lvl9pPr marL="15361920" indent="0" algn="l" defTabSz="3840480" rtl="0" eaLnBrk="1" latinLnBrk="0" hangingPunct="1">
              <a:lnSpc>
                <a:spcPct val="90000"/>
              </a:lnSpc>
              <a:spcBef>
                <a:spcPts val="2100"/>
              </a:spcBef>
              <a:buFont typeface="Arial" panose="020B0604020202020204" pitchFamily="34" charset="0"/>
              <a:buNone/>
              <a:defRPr sz="6720" b="1" kern="1200">
                <a:solidFill>
                  <a:schemeClr val="tx1"/>
                </a:solidFill>
                <a:latin typeface="+mn-lt"/>
                <a:ea typeface="+mn-ea"/>
                <a:cs typeface="+mn-cs"/>
              </a:defRPr>
            </a:lvl9pPr>
          </a:lstStyle>
          <a:p>
            <a:pPr>
              <a:spcBef>
                <a:spcPts val="300"/>
              </a:spcBef>
            </a:pPr>
            <a:endParaRPr lang="en-US" sz="2400" dirty="0"/>
          </a:p>
          <a:p>
            <a:pPr>
              <a:spcBef>
                <a:spcPts val="300"/>
              </a:spcBef>
            </a:pPr>
            <a:endParaRPr lang="en-US" sz="2400" dirty="0"/>
          </a:p>
          <a:p>
            <a:pPr>
              <a:spcBef>
                <a:spcPts val="300"/>
              </a:spcBef>
            </a:pPr>
            <a:r>
              <a:rPr lang="en-US" sz="2400" dirty="0"/>
              <a:t>Higher-Order Numerical Methods (RK4)</a:t>
            </a:r>
          </a:p>
          <a:p>
            <a:pPr>
              <a:spcBef>
                <a:spcPts val="150"/>
              </a:spcBef>
            </a:pPr>
            <a:r>
              <a:rPr lang="en-US" sz="1800" b="0" dirty="0"/>
              <a:t>           The logical next step is to implement the classical 4th-order Runge-</a:t>
            </a:r>
            <a:r>
              <a:rPr lang="en-US" sz="1800" b="0" dirty="0" err="1"/>
              <a:t>Kutta</a:t>
            </a:r>
            <a:r>
              <a:rPr lang="en-US" sz="1800" b="0" dirty="0"/>
              <a:t> method (RK4), which uses four slope evaluations per step and achieves O(h⁴) global error. RK4 would provide a near-exact benchmark for the nonlinear ODE, where no analytical solution is available, and allow a complete three-way comparison of accuracy vs. computational cost across all step sizes tested here. The expected result is that a single RK4 pass at 37 points will surpass the accuracy of Improved Euler at 361 points, demonstrating the power of higher-order methods for stiff or computationally expensive problems.</a:t>
            </a:r>
          </a:p>
          <a:p>
            <a:pPr>
              <a:spcBef>
                <a:spcPts val="250"/>
              </a:spcBef>
            </a:pPr>
            <a:r>
              <a:rPr lang="en-US" sz="2400" dirty="0"/>
              <a:t>Monte Carlo Uncertainty Quantification</a:t>
            </a:r>
          </a:p>
          <a:p>
            <a:pPr>
              <a:spcBef>
                <a:spcPts val="150"/>
              </a:spcBef>
            </a:pPr>
            <a:r>
              <a:rPr lang="en-US" sz="1800" b="0" dirty="0"/>
              <a:t>           The physical parameters used in this study (hᴀ, </a:t>
            </a:r>
            <a:r>
              <a:rPr lang="en-US" sz="1800" b="0" dirty="0" err="1"/>
              <a:t>ε</a:t>
            </a:r>
            <a:r>
              <a:rPr lang="en-US" sz="1800" b="0" dirty="0"/>
              <a:t>, G, α, </a:t>
            </a:r>
            <a:r>
              <a:rPr lang="en-US" sz="1800" b="0" dirty="0" err="1"/>
              <a:t>η</a:t>
            </a:r>
            <a:r>
              <a:rPr lang="en-US" sz="1800" b="0" dirty="0"/>
              <a:t>) each carry real-world uncertainty. Convection coefficients can vary by ±20–50% depending on wind speed; solar irradiance fluctuates with cloud cover; emissivity degrades over panel lifetime. A Monte Carlo approach would draw random samples from probability distributions for each parameter, run the nonlinear ODE thousands of times using Improved Euler, and construct probability distributions for the predicted temperature trajectory. This would yield confidence intervals at each time point and identify which parameters contribute most to prediction uncertainty, guiding future experimental measurement priorities.</a:t>
            </a:r>
          </a:p>
          <a:p>
            <a:pPr>
              <a:spcBef>
                <a:spcPts val="250"/>
              </a:spcBef>
            </a:pPr>
            <a:r>
              <a:rPr lang="en-US" sz="2400" dirty="0"/>
              <a:t>Coupled Thermal–Electrical Model</a:t>
            </a:r>
          </a:p>
          <a:p>
            <a:pPr>
              <a:spcBef>
                <a:spcPts val="150"/>
              </a:spcBef>
            </a:pPr>
            <a:r>
              <a:rPr lang="en-US" sz="1800" b="0" dirty="0"/>
              <a:t>           Currently, the electrical efficiency </a:t>
            </a:r>
            <a:r>
              <a:rPr lang="en-US" sz="1800" b="0" dirty="0" err="1"/>
              <a:t>η</a:t>
            </a:r>
            <a:r>
              <a:rPr lang="en-US" sz="1800" b="0" dirty="0"/>
              <a:t> is treated as a constant 18%. In practice, </a:t>
            </a:r>
            <a:r>
              <a:rPr lang="en-US" sz="1800" b="0" dirty="0" err="1"/>
              <a:t>η</a:t>
            </a:r>
            <a:r>
              <a:rPr lang="en-US" sz="1800" b="0" dirty="0"/>
              <a:t> decreases linearly with temperature: </a:t>
            </a:r>
            <a:r>
              <a:rPr lang="en-US" sz="1800" b="0" dirty="0" err="1"/>
              <a:t>η</a:t>
            </a:r>
            <a:r>
              <a:rPr lang="en-US" sz="1800" b="0" dirty="0"/>
              <a:t>(T) = </a:t>
            </a:r>
            <a:r>
              <a:rPr lang="en-US" sz="1800" b="0" dirty="0" err="1"/>
              <a:t>η</a:t>
            </a:r>
            <a:r>
              <a:rPr lang="en-US" sz="1800" b="0" dirty="0"/>
              <a:t>ₛᵗᶜ [1 − β(T − Tₛᵗᶜ)], where β ≈ 0.0045/K for silicon. Substituting this into the ODE creates a feedback loop: higher T reduces </a:t>
            </a:r>
            <a:r>
              <a:rPr lang="en-US" sz="1800" b="0" dirty="0" err="1"/>
              <a:t>η</a:t>
            </a:r>
            <a:r>
              <a:rPr lang="en-US" sz="1800" b="0" dirty="0"/>
              <a:t>, which increases net heat absorption, which further raises T. Solving this coupled system would require iterative root-finding at each time step (since the RHS now implicitly depends on </a:t>
            </a:r>
            <a:r>
              <a:rPr lang="en-US" sz="1800" b="0" dirty="0" err="1"/>
              <a:t>η</a:t>
            </a:r>
            <a:r>
              <a:rPr lang="en-US" sz="1800" b="0" dirty="0"/>
              <a:t>(T)), and would produce more accurate steady-state temperatures and direct predictions of real power output as a function of time.</a:t>
            </a:r>
          </a:p>
          <a:p>
            <a:pPr>
              <a:spcBef>
                <a:spcPts val="250"/>
              </a:spcBef>
            </a:pPr>
            <a:r>
              <a:rPr lang="en-US" sz="2400" dirty="0"/>
              <a:t>Time-Varying Irradiance and Diurnal Modeling</a:t>
            </a:r>
          </a:p>
          <a:p>
            <a:pPr>
              <a:spcBef>
                <a:spcPts val="150"/>
              </a:spcBef>
            </a:pPr>
            <a:r>
              <a:rPr lang="en-US" sz="1800" b="0" dirty="0"/>
              <a:t>           The current model assumes constant peak irradiance G = 1000 W/m², which is only achieved at solar noon. A more realistic model would replace G with a time-dependent function such as G(t) = G₀ sin²(πt/Tᴀᴀᵧ), where Tᴀᴀᵧ is the day length. This would make the ODE non-autonomous (f now depends explicitly on t), eliminating the exact analytical solution but creating a far more realistic temperature trajectory over a full day. Night cooling and morning warm-up cycles could be simulated, and integration over the daily temperature profile would allow direct prediction of daily energy harvest.</a:t>
            </a:r>
          </a:p>
        </p:txBody>
      </p:sp>
      <p:sp>
        <p:nvSpPr>
          <p:cNvPr id="85" name="Google Shape;85;g39de938f8a0_3_219"/>
          <p:cNvSpPr/>
          <p:nvPr/>
        </p:nvSpPr>
        <p:spPr>
          <a:xfrm>
            <a:off x="-62474" y="-87963"/>
            <a:ext cx="38529747" cy="3329209"/>
          </a:xfrm>
          <a:prstGeom prst="rect">
            <a:avLst/>
          </a:prstGeom>
          <a:solidFill>
            <a:srgbClr val="C41E3A"/>
          </a:solidFill>
          <a:ln w="22725" cap="flat" cmpd="sng">
            <a:solidFill>
              <a:schemeClr val="dk1"/>
            </a:solidFill>
            <a:prstDash val="solid"/>
            <a:round/>
            <a:headEnd type="none" w="sm" len="sm"/>
            <a:tailEnd type="none" w="sm" len="sm"/>
          </a:ln>
        </p:spPr>
        <p:txBody>
          <a:bodyPr spcFirstLastPara="1" wrap="square" lIns="264940" tIns="264940" rIns="264940" bIns="264940" anchor="ctr" anchorCtr="0">
            <a:noAutofit/>
          </a:bodyPr>
          <a:lstStyle/>
          <a:p>
            <a:pPr algn="ctr"/>
            <a:endParaRPr sz="4360">
              <a:solidFill>
                <a:schemeClr val="lt1"/>
              </a:solidFill>
              <a:latin typeface="Calibri"/>
              <a:ea typeface="Calibri"/>
              <a:cs typeface="Calibri"/>
              <a:sym typeface="Calibri"/>
            </a:endParaRPr>
          </a:p>
        </p:txBody>
      </p:sp>
      <p:sp>
        <p:nvSpPr>
          <p:cNvPr id="89" name="Google Shape;89;g39de938f8a0_3_219"/>
          <p:cNvSpPr txBox="1"/>
          <p:nvPr/>
        </p:nvSpPr>
        <p:spPr>
          <a:xfrm>
            <a:off x="4486462" y="-16036"/>
            <a:ext cx="30435902" cy="2881960"/>
          </a:xfrm>
          <a:prstGeom prst="rect">
            <a:avLst/>
          </a:prstGeom>
          <a:noFill/>
          <a:ln>
            <a:noFill/>
          </a:ln>
        </p:spPr>
        <p:txBody>
          <a:bodyPr spcFirstLastPara="1" wrap="square" lIns="52977" tIns="26488" rIns="52977" bIns="26488" anchor="t" anchorCtr="0">
            <a:spAutoFit/>
          </a:bodyPr>
          <a:lstStyle/>
          <a:p>
            <a:pPr lvl="0" algn="ctr"/>
            <a:r>
              <a:rPr lang="en-US" sz="3600" dirty="0">
                <a:solidFill>
                  <a:schemeClr val="bg1"/>
                </a:solidFill>
              </a:rPr>
              <a:t>Investigating Approximations for the Linear and Non-Linear First Order Differential Equation Describing the Operating Temperature of a Photovoltaic Cell.</a:t>
            </a:r>
            <a:r>
              <a:rPr lang="en-US" sz="8800" dirty="0">
                <a:solidFill>
                  <a:schemeClr val="bg1"/>
                </a:solidFill>
              </a:rPr>
              <a:t> </a:t>
            </a:r>
            <a:endParaRPr lang="en-US" sz="5400" dirty="0">
              <a:solidFill>
                <a:schemeClr val="bg1"/>
              </a:solidFill>
            </a:endParaRPr>
          </a:p>
          <a:p>
            <a:pPr lvl="0" algn="ctr"/>
            <a:r>
              <a:rPr lang="en-US" sz="3626" b="1" u="sng" dirty="0">
                <a:solidFill>
                  <a:schemeClr val="lt1"/>
                </a:solidFill>
                <a:latin typeface="Calibri"/>
                <a:ea typeface="Calibri"/>
                <a:cs typeface="Calibri"/>
                <a:sym typeface="Calibri"/>
              </a:rPr>
              <a:t>Thomas Campagna, </a:t>
            </a:r>
            <a:r>
              <a:rPr lang="en-US" sz="3626" b="1" dirty="0">
                <a:solidFill>
                  <a:schemeClr val="lt1"/>
                </a:solidFill>
                <a:latin typeface="Calibri"/>
                <a:ea typeface="Calibri"/>
                <a:cs typeface="Calibri"/>
                <a:sym typeface="Calibri"/>
              </a:rPr>
              <a:t>Wyatt Crosby, Joey Spaeth</a:t>
            </a:r>
            <a:endParaRPr sz="1058" b="1" dirty="0">
              <a:solidFill>
                <a:schemeClr val="lt1"/>
              </a:solidFill>
              <a:latin typeface="Calibri"/>
              <a:ea typeface="Calibri"/>
              <a:cs typeface="Calibri"/>
              <a:sym typeface="Calibri"/>
            </a:endParaRPr>
          </a:p>
          <a:p>
            <a:pPr algn="ctr"/>
            <a:r>
              <a:rPr lang="en-US" sz="2977" b="1" i="1" dirty="0">
                <a:solidFill>
                  <a:schemeClr val="lt1"/>
                </a:solidFill>
                <a:latin typeface="Calibri"/>
                <a:ea typeface="Calibri"/>
                <a:cs typeface="Calibri"/>
                <a:sym typeface="Calibri"/>
              </a:rPr>
              <a:t>Department of Physics, Engineering, and Astronomy, Austin Peay State University, Clarksville, TN 37044, USA</a:t>
            </a:r>
          </a:p>
          <a:p>
            <a:pPr algn="ctr"/>
            <a:r>
              <a:rPr lang="en-US" sz="2977" b="1" i="1" dirty="0">
                <a:solidFill>
                  <a:schemeClr val="lt1"/>
                </a:solidFill>
                <a:latin typeface="Calibri"/>
                <a:ea typeface="Calibri"/>
                <a:cs typeface="Calibri"/>
                <a:sym typeface="Calibri"/>
              </a:rPr>
              <a:t>wcampagna@students.apsu.edu</a:t>
            </a:r>
          </a:p>
        </p:txBody>
      </p:sp>
      <p:sp>
        <p:nvSpPr>
          <p:cNvPr id="92" name="Google Shape;92;g39de938f8a0_3_219"/>
          <p:cNvSpPr/>
          <p:nvPr/>
        </p:nvSpPr>
        <p:spPr>
          <a:xfrm>
            <a:off x="-7" y="132604"/>
            <a:ext cx="200145" cy="296266"/>
          </a:xfrm>
          <a:prstGeom prst="rect">
            <a:avLst/>
          </a:prstGeom>
          <a:noFill/>
          <a:ln>
            <a:noFill/>
          </a:ln>
        </p:spPr>
        <p:txBody>
          <a:bodyPr spcFirstLastPara="1" wrap="square" lIns="52977" tIns="26488" rIns="52977" bIns="26488" anchor="ctr" anchorCtr="0">
            <a:noAutofit/>
          </a:bodyPr>
          <a:lstStyle/>
          <a:p>
            <a:r>
              <a:rPr lang="en-US" sz="696">
                <a:solidFill>
                  <a:schemeClr val="dk1"/>
                </a:solidFill>
                <a:latin typeface="Arial"/>
                <a:ea typeface="Arial"/>
                <a:cs typeface="Arial"/>
                <a:sym typeface="Arial"/>
              </a:rPr>
              <a:t> </a:t>
            </a:r>
            <a:endParaRPr sz="1043">
              <a:solidFill>
                <a:schemeClr val="dk1"/>
              </a:solidFill>
              <a:latin typeface="Arial"/>
              <a:ea typeface="Arial"/>
              <a:cs typeface="Arial"/>
              <a:sym typeface="Arial"/>
            </a:endParaRPr>
          </a:p>
        </p:txBody>
      </p:sp>
      <p:sp>
        <p:nvSpPr>
          <p:cNvPr id="93" name="Google Shape;93;g39de938f8a0_3_219"/>
          <p:cNvSpPr/>
          <p:nvPr/>
        </p:nvSpPr>
        <p:spPr>
          <a:xfrm>
            <a:off x="-8" y="597245"/>
            <a:ext cx="390070" cy="296266"/>
          </a:xfrm>
          <a:prstGeom prst="rect">
            <a:avLst/>
          </a:prstGeom>
          <a:noFill/>
          <a:ln>
            <a:noFill/>
          </a:ln>
        </p:spPr>
        <p:txBody>
          <a:bodyPr spcFirstLastPara="1" wrap="square" lIns="52977" tIns="26488" rIns="52977" bIns="26488" anchor="ctr" anchorCtr="0">
            <a:noAutofit/>
          </a:bodyPr>
          <a:lstStyle/>
          <a:p>
            <a:r>
              <a:rPr lang="en-US" sz="696">
                <a:solidFill>
                  <a:schemeClr val="dk1"/>
                </a:solidFill>
                <a:latin typeface="Arial"/>
                <a:ea typeface="Arial"/>
                <a:cs typeface="Arial"/>
                <a:sym typeface="Arial"/>
              </a:rPr>
              <a:t> ,    </a:t>
            </a:r>
            <a:endParaRPr sz="1043">
              <a:solidFill>
                <a:schemeClr val="dk1"/>
              </a:solidFill>
              <a:latin typeface="Arial"/>
              <a:ea typeface="Arial"/>
              <a:cs typeface="Arial"/>
              <a:sym typeface="Arial"/>
            </a:endParaRPr>
          </a:p>
        </p:txBody>
      </p:sp>
      <p:sp>
        <p:nvSpPr>
          <p:cNvPr id="94" name="Google Shape;94;g39de938f8a0_3_219"/>
          <p:cNvSpPr/>
          <p:nvPr/>
        </p:nvSpPr>
        <p:spPr>
          <a:xfrm>
            <a:off x="-7" y="742508"/>
            <a:ext cx="162228" cy="1337575"/>
          </a:xfrm>
          <a:prstGeom prst="rect">
            <a:avLst/>
          </a:prstGeom>
          <a:noFill/>
          <a:ln>
            <a:noFill/>
          </a:ln>
        </p:spPr>
        <p:txBody>
          <a:bodyPr spcFirstLastPara="1" wrap="square" lIns="52977" tIns="26488" rIns="52977" bIns="26488" anchor="ctr" anchorCtr="0">
            <a:noAutofit/>
          </a:bodyPr>
          <a:lstStyle/>
          <a:p>
            <a:endParaRPr sz="4360">
              <a:solidFill>
                <a:schemeClr val="dk1"/>
              </a:solidFill>
              <a:latin typeface="Calibri"/>
              <a:ea typeface="Calibri"/>
              <a:cs typeface="Calibri"/>
              <a:sym typeface="Calibri"/>
            </a:endParaRPr>
          </a:p>
        </p:txBody>
      </p:sp>
      <p:pic>
        <p:nvPicPr>
          <p:cNvPr id="95" name="Google Shape;95;g39de938f8a0_3_219" descr="A black and white logo&#10;&#10;Description automatically generated"/>
          <p:cNvPicPr preferRelativeResize="0"/>
          <p:nvPr/>
        </p:nvPicPr>
        <p:blipFill rotWithShape="1">
          <a:blip r:embed="rId4">
            <a:alphaModFix/>
          </a:blip>
          <a:srcRect/>
          <a:stretch/>
        </p:blipFill>
        <p:spPr>
          <a:xfrm>
            <a:off x="374309" y="84105"/>
            <a:ext cx="4131251" cy="3125705"/>
          </a:xfrm>
          <a:prstGeom prst="rect">
            <a:avLst/>
          </a:prstGeom>
          <a:noFill/>
          <a:ln>
            <a:noFill/>
          </a:ln>
        </p:spPr>
      </p:pic>
      <p:sp>
        <p:nvSpPr>
          <p:cNvPr id="186" name="TextBox 185">
            <a:extLst>
              <a:ext uri="{FF2B5EF4-FFF2-40B4-BE49-F238E27FC236}">
                <a16:creationId xmlns:a16="http://schemas.microsoft.com/office/drawing/2014/main" id="{993E180C-4B67-E20C-534A-43EDDD014079}"/>
              </a:ext>
            </a:extLst>
          </p:cNvPr>
          <p:cNvSpPr txBox="1"/>
          <p:nvPr/>
        </p:nvSpPr>
        <p:spPr>
          <a:xfrm>
            <a:off x="23573053" y="19145595"/>
            <a:ext cx="4299442" cy="523220"/>
          </a:xfrm>
          <a:prstGeom prst="rect">
            <a:avLst/>
          </a:prstGeom>
          <a:noFill/>
        </p:spPr>
        <p:txBody>
          <a:bodyPr wrap="square" rtlCol="0">
            <a:spAutoFit/>
          </a:bodyPr>
          <a:lstStyle/>
          <a:p>
            <a:pPr algn="ctr"/>
            <a:r>
              <a:rPr lang="en-US" sz="2800" b="1" dirty="0">
                <a:latin typeface="Calibri" panose="020F0502020204030204" pitchFamily="34" charset="0"/>
                <a:ea typeface="Calibri" panose="020F0502020204030204" pitchFamily="34" charset="0"/>
                <a:cs typeface="Calibri" panose="020F0502020204030204" pitchFamily="34" charset="0"/>
              </a:rPr>
              <a:t>Discussion</a:t>
            </a:r>
          </a:p>
        </p:txBody>
      </p:sp>
      <p:pic>
        <p:nvPicPr>
          <p:cNvPr id="4" name="Picture 3">
            <a:extLst>
              <a:ext uri="{FF2B5EF4-FFF2-40B4-BE49-F238E27FC236}">
                <a16:creationId xmlns:a16="http://schemas.microsoft.com/office/drawing/2014/main" id="{A31CFA00-13C8-5FA6-DE21-4CD16BC120F3}"/>
              </a:ext>
            </a:extLst>
          </p:cNvPr>
          <p:cNvPicPr>
            <a:picLocks noChangeAspect="1"/>
          </p:cNvPicPr>
          <p:nvPr/>
        </p:nvPicPr>
        <p:blipFill>
          <a:blip r:embed="rId5"/>
          <a:stretch>
            <a:fillRect/>
          </a:stretch>
        </p:blipFill>
        <p:spPr>
          <a:xfrm>
            <a:off x="11971003" y="3615885"/>
            <a:ext cx="8642982" cy="6179741"/>
          </a:xfrm>
          <a:prstGeom prst="rect">
            <a:avLst/>
          </a:prstGeom>
        </p:spPr>
      </p:pic>
      <p:pic>
        <p:nvPicPr>
          <p:cNvPr id="5" name="Picture 4">
            <a:extLst>
              <a:ext uri="{FF2B5EF4-FFF2-40B4-BE49-F238E27FC236}">
                <a16:creationId xmlns:a16="http://schemas.microsoft.com/office/drawing/2014/main" id="{EF92B7A6-B033-4346-BE4C-177A965E1C1F}"/>
              </a:ext>
            </a:extLst>
          </p:cNvPr>
          <p:cNvPicPr>
            <a:picLocks noChangeAspect="1"/>
          </p:cNvPicPr>
          <p:nvPr/>
        </p:nvPicPr>
        <p:blipFill>
          <a:blip r:embed="rId6"/>
          <a:stretch>
            <a:fillRect/>
          </a:stretch>
        </p:blipFill>
        <p:spPr>
          <a:xfrm>
            <a:off x="25059103" y="10996114"/>
            <a:ext cx="9182868" cy="6427996"/>
          </a:xfrm>
          <a:prstGeom prst="rect">
            <a:avLst/>
          </a:prstGeom>
        </p:spPr>
      </p:pic>
      <p:pic>
        <p:nvPicPr>
          <p:cNvPr id="6" name="Picture 5">
            <a:extLst>
              <a:ext uri="{FF2B5EF4-FFF2-40B4-BE49-F238E27FC236}">
                <a16:creationId xmlns:a16="http://schemas.microsoft.com/office/drawing/2014/main" id="{C7F96C2E-239B-FCF0-F926-743371C6080C}"/>
              </a:ext>
            </a:extLst>
          </p:cNvPr>
          <p:cNvPicPr>
            <a:picLocks noChangeAspect="1"/>
          </p:cNvPicPr>
          <p:nvPr/>
        </p:nvPicPr>
        <p:blipFill>
          <a:blip r:embed="rId7"/>
          <a:stretch>
            <a:fillRect/>
          </a:stretch>
        </p:blipFill>
        <p:spPr>
          <a:xfrm>
            <a:off x="29319364" y="3619712"/>
            <a:ext cx="8642985" cy="6179741"/>
          </a:xfrm>
          <a:prstGeom prst="rect">
            <a:avLst/>
          </a:prstGeom>
        </p:spPr>
      </p:pic>
      <p:pic>
        <p:nvPicPr>
          <p:cNvPr id="7" name="Picture 6">
            <a:extLst>
              <a:ext uri="{FF2B5EF4-FFF2-40B4-BE49-F238E27FC236}">
                <a16:creationId xmlns:a16="http://schemas.microsoft.com/office/drawing/2014/main" id="{673CED27-D7B5-6C6E-42B8-D7C3C60C896F}"/>
              </a:ext>
            </a:extLst>
          </p:cNvPr>
          <p:cNvPicPr>
            <a:picLocks noChangeAspect="1"/>
          </p:cNvPicPr>
          <p:nvPr/>
        </p:nvPicPr>
        <p:blipFill>
          <a:blip r:embed="rId8"/>
          <a:stretch>
            <a:fillRect/>
          </a:stretch>
        </p:blipFill>
        <p:spPr>
          <a:xfrm>
            <a:off x="15876240" y="10996111"/>
            <a:ext cx="9182863" cy="6427999"/>
          </a:xfrm>
          <a:prstGeom prst="rect">
            <a:avLst/>
          </a:prstGeom>
        </p:spPr>
      </p:pic>
      <p:pic>
        <p:nvPicPr>
          <p:cNvPr id="8" name="Picture 7">
            <a:extLst>
              <a:ext uri="{FF2B5EF4-FFF2-40B4-BE49-F238E27FC236}">
                <a16:creationId xmlns:a16="http://schemas.microsoft.com/office/drawing/2014/main" id="{FA011469-3011-5E43-9BCD-7CD2BCCD9C31}"/>
              </a:ext>
            </a:extLst>
          </p:cNvPr>
          <p:cNvPicPr>
            <a:picLocks noChangeAspect="1"/>
          </p:cNvPicPr>
          <p:nvPr/>
        </p:nvPicPr>
        <p:blipFill>
          <a:blip r:embed="rId9"/>
          <a:stretch>
            <a:fillRect/>
          </a:stretch>
        </p:blipFill>
        <p:spPr>
          <a:xfrm>
            <a:off x="20637597" y="3621739"/>
            <a:ext cx="8722035" cy="6236242"/>
          </a:xfrm>
          <a:prstGeom prst="rect">
            <a:avLst/>
          </a:prstGeom>
        </p:spPr>
      </p:pic>
      <p:pic>
        <p:nvPicPr>
          <p:cNvPr id="9" name="Google Shape;66;p13">
            <a:extLst>
              <a:ext uri="{FF2B5EF4-FFF2-40B4-BE49-F238E27FC236}">
                <a16:creationId xmlns:a16="http://schemas.microsoft.com/office/drawing/2014/main" id="{B19A4A99-F2CB-6E01-6474-BBCADEC36FC9}"/>
              </a:ext>
            </a:extLst>
          </p:cNvPr>
          <p:cNvPicPr preferRelativeResize="0"/>
          <p:nvPr/>
        </p:nvPicPr>
        <p:blipFill>
          <a:blip r:embed="rId10">
            <a:alphaModFix/>
          </a:blip>
          <a:stretch>
            <a:fillRect/>
          </a:stretch>
        </p:blipFill>
        <p:spPr>
          <a:xfrm>
            <a:off x="34970472" y="32103"/>
            <a:ext cx="2627198" cy="3077206"/>
          </a:xfrm>
          <a:prstGeom prst="rect">
            <a:avLst/>
          </a:prstGeom>
          <a:noFill/>
          <a:ln>
            <a:noFill/>
          </a:ln>
        </p:spPr>
      </p:pic>
      <p:sp>
        <p:nvSpPr>
          <p:cNvPr id="10" name="Google Shape;108;g39de938f8a0_3_219">
            <a:extLst>
              <a:ext uri="{FF2B5EF4-FFF2-40B4-BE49-F238E27FC236}">
                <a16:creationId xmlns:a16="http://schemas.microsoft.com/office/drawing/2014/main" id="{9E90EA5D-CB98-5FDF-E243-44C72B1D4056}"/>
              </a:ext>
            </a:extLst>
          </p:cNvPr>
          <p:cNvSpPr txBox="1">
            <a:spLocks/>
          </p:cNvSpPr>
          <p:nvPr/>
        </p:nvSpPr>
        <p:spPr>
          <a:xfrm>
            <a:off x="11769308" y="31584275"/>
            <a:ext cx="26373495" cy="1565142"/>
          </a:xfrm>
          <a:prstGeom prst="rect">
            <a:avLst/>
          </a:prstGeom>
          <a:solidFill>
            <a:schemeClr val="lt1"/>
          </a:solidFill>
          <a:ln w="50165" cap="rnd" cmpd="sng">
            <a:solidFill>
              <a:schemeClr val="dk1"/>
            </a:solidFill>
            <a:prstDash val="solid"/>
            <a:round/>
            <a:headEnd type="none" w="sm" len="sm"/>
            <a:tailEnd type="none" w="sm" len="sm"/>
          </a:ln>
        </p:spPr>
        <p:txBody>
          <a:bodyPr spcFirstLastPara="1" vert="horz" wrap="square" lIns="264940" tIns="158952" rIns="264940" bIns="264940" rtlCol="0" anchor="t" anchorCtr="0">
            <a:noAutofit/>
          </a:bodyPr>
          <a:lstStyle>
            <a:lvl1pPr marL="0" indent="0" algn="l" defTabSz="3840480" rtl="0" eaLnBrk="1" latinLnBrk="0" hangingPunct="1">
              <a:lnSpc>
                <a:spcPct val="90000"/>
              </a:lnSpc>
              <a:spcBef>
                <a:spcPts val="4200"/>
              </a:spcBef>
              <a:buFont typeface="Arial" panose="020B0604020202020204" pitchFamily="34" charset="0"/>
              <a:buNone/>
              <a:defRPr sz="10080" b="1" kern="1200">
                <a:solidFill>
                  <a:schemeClr val="tx1"/>
                </a:solidFill>
                <a:latin typeface="+mn-lt"/>
                <a:ea typeface="+mn-ea"/>
                <a:cs typeface="+mn-cs"/>
              </a:defRPr>
            </a:lvl1pPr>
            <a:lvl2pPr marL="1920240" indent="0" algn="l" defTabSz="3840480" rtl="0" eaLnBrk="1" latinLnBrk="0" hangingPunct="1">
              <a:lnSpc>
                <a:spcPct val="90000"/>
              </a:lnSpc>
              <a:spcBef>
                <a:spcPts val="2100"/>
              </a:spcBef>
              <a:buFont typeface="Arial" panose="020B0604020202020204" pitchFamily="34" charset="0"/>
              <a:buNone/>
              <a:defRPr sz="8400" b="1" kern="1200">
                <a:solidFill>
                  <a:schemeClr val="tx1"/>
                </a:solidFill>
                <a:latin typeface="+mn-lt"/>
                <a:ea typeface="+mn-ea"/>
                <a:cs typeface="+mn-cs"/>
              </a:defRPr>
            </a:lvl2pPr>
            <a:lvl3pPr marL="3840480" indent="0" algn="l" defTabSz="3840480" rtl="0" eaLnBrk="1" latinLnBrk="0" hangingPunct="1">
              <a:lnSpc>
                <a:spcPct val="90000"/>
              </a:lnSpc>
              <a:spcBef>
                <a:spcPts val="2100"/>
              </a:spcBef>
              <a:buFont typeface="Arial" panose="020B0604020202020204" pitchFamily="34" charset="0"/>
              <a:buNone/>
              <a:defRPr sz="7560" b="1" kern="1200">
                <a:solidFill>
                  <a:schemeClr val="tx1"/>
                </a:solidFill>
                <a:latin typeface="+mn-lt"/>
                <a:ea typeface="+mn-ea"/>
                <a:cs typeface="+mn-cs"/>
              </a:defRPr>
            </a:lvl3pPr>
            <a:lvl4pPr marL="5760720" indent="0" algn="l" defTabSz="3840480" rtl="0" eaLnBrk="1" latinLnBrk="0" hangingPunct="1">
              <a:lnSpc>
                <a:spcPct val="90000"/>
              </a:lnSpc>
              <a:spcBef>
                <a:spcPts val="2100"/>
              </a:spcBef>
              <a:buFont typeface="Arial" panose="020B0604020202020204" pitchFamily="34" charset="0"/>
              <a:buNone/>
              <a:defRPr sz="6720" b="1" kern="1200">
                <a:solidFill>
                  <a:schemeClr val="tx1"/>
                </a:solidFill>
                <a:latin typeface="+mn-lt"/>
                <a:ea typeface="+mn-ea"/>
                <a:cs typeface="+mn-cs"/>
              </a:defRPr>
            </a:lvl4pPr>
            <a:lvl5pPr marL="7680960" indent="0" algn="l" defTabSz="3840480" rtl="0" eaLnBrk="1" latinLnBrk="0" hangingPunct="1">
              <a:lnSpc>
                <a:spcPct val="90000"/>
              </a:lnSpc>
              <a:spcBef>
                <a:spcPts val="2100"/>
              </a:spcBef>
              <a:buFont typeface="Arial" panose="020B0604020202020204" pitchFamily="34" charset="0"/>
              <a:buNone/>
              <a:defRPr sz="6720" b="1" kern="1200">
                <a:solidFill>
                  <a:schemeClr val="tx1"/>
                </a:solidFill>
                <a:latin typeface="+mn-lt"/>
                <a:ea typeface="+mn-ea"/>
                <a:cs typeface="+mn-cs"/>
              </a:defRPr>
            </a:lvl5pPr>
            <a:lvl6pPr marL="9601200" indent="0" algn="l" defTabSz="3840480" rtl="0" eaLnBrk="1" latinLnBrk="0" hangingPunct="1">
              <a:lnSpc>
                <a:spcPct val="90000"/>
              </a:lnSpc>
              <a:spcBef>
                <a:spcPts val="2100"/>
              </a:spcBef>
              <a:buFont typeface="Arial" panose="020B0604020202020204" pitchFamily="34" charset="0"/>
              <a:buNone/>
              <a:defRPr sz="6720" b="1" kern="1200">
                <a:solidFill>
                  <a:schemeClr val="tx1"/>
                </a:solidFill>
                <a:latin typeface="+mn-lt"/>
                <a:ea typeface="+mn-ea"/>
                <a:cs typeface="+mn-cs"/>
              </a:defRPr>
            </a:lvl6pPr>
            <a:lvl7pPr marL="11521440" indent="0" algn="l" defTabSz="3840480" rtl="0" eaLnBrk="1" latinLnBrk="0" hangingPunct="1">
              <a:lnSpc>
                <a:spcPct val="90000"/>
              </a:lnSpc>
              <a:spcBef>
                <a:spcPts val="2100"/>
              </a:spcBef>
              <a:buFont typeface="Arial" panose="020B0604020202020204" pitchFamily="34" charset="0"/>
              <a:buNone/>
              <a:defRPr sz="6720" b="1" kern="1200">
                <a:solidFill>
                  <a:schemeClr val="tx1"/>
                </a:solidFill>
                <a:latin typeface="+mn-lt"/>
                <a:ea typeface="+mn-ea"/>
                <a:cs typeface="+mn-cs"/>
              </a:defRPr>
            </a:lvl7pPr>
            <a:lvl8pPr marL="13441680" indent="0" algn="l" defTabSz="3840480" rtl="0" eaLnBrk="1" latinLnBrk="0" hangingPunct="1">
              <a:lnSpc>
                <a:spcPct val="90000"/>
              </a:lnSpc>
              <a:spcBef>
                <a:spcPts val="2100"/>
              </a:spcBef>
              <a:buFont typeface="Arial" panose="020B0604020202020204" pitchFamily="34" charset="0"/>
              <a:buNone/>
              <a:defRPr sz="6720" b="1" kern="1200">
                <a:solidFill>
                  <a:schemeClr val="tx1"/>
                </a:solidFill>
                <a:latin typeface="+mn-lt"/>
                <a:ea typeface="+mn-ea"/>
                <a:cs typeface="+mn-cs"/>
              </a:defRPr>
            </a:lvl8pPr>
            <a:lvl9pPr marL="15361920" indent="0" algn="l" defTabSz="3840480" rtl="0" eaLnBrk="1" latinLnBrk="0" hangingPunct="1">
              <a:lnSpc>
                <a:spcPct val="90000"/>
              </a:lnSpc>
              <a:spcBef>
                <a:spcPts val="2100"/>
              </a:spcBef>
              <a:buFont typeface="Arial" panose="020B0604020202020204" pitchFamily="34" charset="0"/>
              <a:buNone/>
              <a:defRPr sz="6720" b="1" kern="1200">
                <a:solidFill>
                  <a:schemeClr val="tx1"/>
                </a:solidFill>
                <a:latin typeface="+mn-lt"/>
                <a:ea typeface="+mn-ea"/>
                <a:cs typeface="+mn-cs"/>
              </a:defRPr>
            </a:lvl9pPr>
          </a:lstStyle>
          <a:p>
            <a:pPr marL="221968" indent="-221968" algn="ctr">
              <a:spcBef>
                <a:spcPts val="696"/>
              </a:spcBef>
              <a:buSzPct val="100000"/>
            </a:pPr>
            <a:r>
              <a:rPr lang="en-US" sz="1600" dirty="0">
                <a:latin typeface="Calibri" panose="020F0502020204030204" pitchFamily="34" charset="0"/>
                <a:ea typeface="Calibri" panose="020F0502020204030204" pitchFamily="34" charset="0"/>
                <a:cs typeface="Calibri" panose="020F0502020204030204" pitchFamily="34" charset="0"/>
              </a:rPr>
              <a:t>Citations</a:t>
            </a:r>
            <a:endParaRPr lang="en-US" sz="1600" b="0" dirty="0">
              <a:latin typeface="Calibri" panose="020F0502020204030204" pitchFamily="34" charset="0"/>
              <a:ea typeface="Calibri" panose="020F0502020204030204" pitchFamily="34" charset="0"/>
              <a:cs typeface="Calibri" panose="020F0502020204030204" pitchFamily="34" charset="0"/>
            </a:endParaRPr>
          </a:p>
          <a:p>
            <a:pPr>
              <a:spcBef>
                <a:spcPts val="200"/>
              </a:spcBef>
            </a:pPr>
            <a:r>
              <a:rPr lang="en-US" sz="1400" b="0" dirty="0"/>
              <a:t>[1] Boyce, W. E., DiPrima, R. C., &amp; Meade, D. B. (2017). </a:t>
            </a:r>
            <a:r>
              <a:rPr lang="en-US" sz="1400" b="0" i="1" dirty="0"/>
              <a:t>Elementary Differential Equations and Boundary Value Problems</a:t>
            </a:r>
            <a:r>
              <a:rPr lang="en-US" sz="1400" b="0" dirty="0"/>
              <a:t> (11th ed.). Wiley.</a:t>
            </a:r>
          </a:p>
          <a:p>
            <a:pPr>
              <a:spcBef>
                <a:spcPts val="150"/>
              </a:spcBef>
            </a:pPr>
            <a:r>
              <a:rPr lang="en-US" sz="1400" b="0" dirty="0"/>
              <a:t>[2] Williams, T. &amp; Kelley, C. (2023). </a:t>
            </a:r>
            <a:r>
              <a:rPr lang="en-US" sz="1400" b="0" i="1" dirty="0" err="1"/>
              <a:t>Gnuplot</a:t>
            </a:r>
            <a:r>
              <a:rPr lang="en-US" sz="1400" b="0" i="1" dirty="0"/>
              <a:t> 5.4: An Interactive Plotting Program</a:t>
            </a:r>
            <a:r>
              <a:rPr lang="en-US" sz="1400" b="0" dirty="0"/>
              <a:t>. http://</a:t>
            </a:r>
            <a:r>
              <a:rPr lang="en-US" sz="1400" b="0" dirty="0" err="1"/>
              <a:t>www.gnuplot.info</a:t>
            </a:r>
            <a:endParaRPr lang="en-US" sz="1400" b="0" dirty="0"/>
          </a:p>
          <a:p>
            <a:pPr>
              <a:spcBef>
                <a:spcPts val="150"/>
              </a:spcBef>
            </a:pPr>
            <a:r>
              <a:rPr lang="en-US" sz="1400" b="0" dirty="0"/>
              <a:t>[3] Chapman, S. J. (2018). </a:t>
            </a:r>
            <a:r>
              <a:rPr lang="en-US" sz="1400" b="0" i="1" dirty="0"/>
              <a:t>Fortran for Scientists and Engineers</a:t>
            </a:r>
            <a:r>
              <a:rPr lang="en-US" sz="1400" b="0" dirty="0"/>
              <a:t> (4th ed.). McGraw-Hill.</a:t>
            </a:r>
          </a:p>
          <a:p>
            <a:pPr>
              <a:spcBef>
                <a:spcPts val="150"/>
              </a:spcBef>
            </a:pPr>
            <a:r>
              <a:rPr lang="en-US" sz="1400" b="0" dirty="0"/>
              <a:t>[4] </a:t>
            </a:r>
            <a:r>
              <a:rPr lang="en-US" sz="1400" b="0" dirty="0" err="1"/>
              <a:t>Skoplaki</a:t>
            </a:r>
            <a:r>
              <a:rPr lang="en-US" sz="1400" b="0" dirty="0"/>
              <a:t>, E. &amp; </a:t>
            </a:r>
            <a:r>
              <a:rPr lang="en-US" sz="1400" b="0" dirty="0" err="1"/>
              <a:t>Palyvos</a:t>
            </a:r>
            <a:r>
              <a:rPr lang="en-US" sz="1400" b="0" dirty="0"/>
              <a:t>, J. A. (2009). On the temperature dependence of photovoltaic module electrical performance. </a:t>
            </a:r>
            <a:r>
              <a:rPr lang="en-US" sz="1400" b="0" i="1" dirty="0"/>
              <a:t>Solar Energy</a:t>
            </a:r>
            <a:r>
              <a:rPr lang="en-US" sz="1400" b="0" dirty="0"/>
              <a:t>, 83(5), 614–624.</a:t>
            </a:r>
          </a:p>
          <a:p>
            <a:pPr marL="221968" indent="-221968">
              <a:spcBef>
                <a:spcPts val="696"/>
              </a:spcBef>
              <a:buSzPct val="100000"/>
            </a:pPr>
            <a:endParaRPr lang="en-US" sz="1392" dirty="0"/>
          </a:p>
        </p:txBody>
      </p:sp>
      <p:sp>
        <p:nvSpPr>
          <p:cNvPr id="15" name="Google Shape;108;g39de938f8a0_3_219">
            <a:extLst>
              <a:ext uri="{FF2B5EF4-FFF2-40B4-BE49-F238E27FC236}">
                <a16:creationId xmlns:a16="http://schemas.microsoft.com/office/drawing/2014/main" id="{F0CA08D1-A7B3-DE7F-F5BA-5FDB3BA48F5D}"/>
              </a:ext>
            </a:extLst>
          </p:cNvPr>
          <p:cNvSpPr txBox="1">
            <a:spLocks/>
          </p:cNvSpPr>
          <p:nvPr/>
        </p:nvSpPr>
        <p:spPr>
          <a:xfrm>
            <a:off x="203939" y="32108930"/>
            <a:ext cx="11178431" cy="1012561"/>
          </a:xfrm>
          <a:prstGeom prst="rect">
            <a:avLst/>
          </a:prstGeom>
          <a:solidFill>
            <a:schemeClr val="lt1"/>
          </a:solidFill>
          <a:ln w="50165" cap="rnd" cmpd="sng">
            <a:solidFill>
              <a:schemeClr val="dk1"/>
            </a:solidFill>
            <a:prstDash val="solid"/>
            <a:round/>
            <a:headEnd type="none" w="sm" len="sm"/>
            <a:tailEnd type="none" w="sm" len="sm"/>
          </a:ln>
        </p:spPr>
        <p:txBody>
          <a:bodyPr spcFirstLastPara="1" vert="horz" wrap="square" lIns="264940" tIns="158952" rIns="264940" bIns="264940" rtlCol="0" anchor="t" anchorCtr="0">
            <a:noAutofit/>
          </a:bodyPr>
          <a:lstStyle>
            <a:lvl1pPr marL="0" indent="0" algn="l" defTabSz="3840480" rtl="0" eaLnBrk="1" latinLnBrk="0" hangingPunct="1">
              <a:lnSpc>
                <a:spcPct val="90000"/>
              </a:lnSpc>
              <a:spcBef>
                <a:spcPts val="4200"/>
              </a:spcBef>
              <a:buFont typeface="Arial" panose="020B0604020202020204" pitchFamily="34" charset="0"/>
              <a:buNone/>
              <a:defRPr sz="10080" b="1" kern="1200">
                <a:solidFill>
                  <a:schemeClr val="tx1"/>
                </a:solidFill>
                <a:latin typeface="+mn-lt"/>
                <a:ea typeface="+mn-ea"/>
                <a:cs typeface="+mn-cs"/>
              </a:defRPr>
            </a:lvl1pPr>
            <a:lvl2pPr marL="1920240" indent="0" algn="l" defTabSz="3840480" rtl="0" eaLnBrk="1" latinLnBrk="0" hangingPunct="1">
              <a:lnSpc>
                <a:spcPct val="90000"/>
              </a:lnSpc>
              <a:spcBef>
                <a:spcPts val="2100"/>
              </a:spcBef>
              <a:buFont typeface="Arial" panose="020B0604020202020204" pitchFamily="34" charset="0"/>
              <a:buNone/>
              <a:defRPr sz="8400" b="1" kern="1200">
                <a:solidFill>
                  <a:schemeClr val="tx1"/>
                </a:solidFill>
                <a:latin typeface="+mn-lt"/>
                <a:ea typeface="+mn-ea"/>
                <a:cs typeface="+mn-cs"/>
              </a:defRPr>
            </a:lvl2pPr>
            <a:lvl3pPr marL="3840480" indent="0" algn="l" defTabSz="3840480" rtl="0" eaLnBrk="1" latinLnBrk="0" hangingPunct="1">
              <a:lnSpc>
                <a:spcPct val="90000"/>
              </a:lnSpc>
              <a:spcBef>
                <a:spcPts val="2100"/>
              </a:spcBef>
              <a:buFont typeface="Arial" panose="020B0604020202020204" pitchFamily="34" charset="0"/>
              <a:buNone/>
              <a:defRPr sz="7560" b="1" kern="1200">
                <a:solidFill>
                  <a:schemeClr val="tx1"/>
                </a:solidFill>
                <a:latin typeface="+mn-lt"/>
                <a:ea typeface="+mn-ea"/>
                <a:cs typeface="+mn-cs"/>
              </a:defRPr>
            </a:lvl3pPr>
            <a:lvl4pPr marL="5760720" indent="0" algn="l" defTabSz="3840480" rtl="0" eaLnBrk="1" latinLnBrk="0" hangingPunct="1">
              <a:lnSpc>
                <a:spcPct val="90000"/>
              </a:lnSpc>
              <a:spcBef>
                <a:spcPts val="2100"/>
              </a:spcBef>
              <a:buFont typeface="Arial" panose="020B0604020202020204" pitchFamily="34" charset="0"/>
              <a:buNone/>
              <a:defRPr sz="6720" b="1" kern="1200">
                <a:solidFill>
                  <a:schemeClr val="tx1"/>
                </a:solidFill>
                <a:latin typeface="+mn-lt"/>
                <a:ea typeface="+mn-ea"/>
                <a:cs typeface="+mn-cs"/>
              </a:defRPr>
            </a:lvl4pPr>
            <a:lvl5pPr marL="7680960" indent="0" algn="l" defTabSz="3840480" rtl="0" eaLnBrk="1" latinLnBrk="0" hangingPunct="1">
              <a:lnSpc>
                <a:spcPct val="90000"/>
              </a:lnSpc>
              <a:spcBef>
                <a:spcPts val="2100"/>
              </a:spcBef>
              <a:buFont typeface="Arial" panose="020B0604020202020204" pitchFamily="34" charset="0"/>
              <a:buNone/>
              <a:defRPr sz="6720" b="1" kern="1200">
                <a:solidFill>
                  <a:schemeClr val="tx1"/>
                </a:solidFill>
                <a:latin typeface="+mn-lt"/>
                <a:ea typeface="+mn-ea"/>
                <a:cs typeface="+mn-cs"/>
              </a:defRPr>
            </a:lvl5pPr>
            <a:lvl6pPr marL="9601200" indent="0" algn="l" defTabSz="3840480" rtl="0" eaLnBrk="1" latinLnBrk="0" hangingPunct="1">
              <a:lnSpc>
                <a:spcPct val="90000"/>
              </a:lnSpc>
              <a:spcBef>
                <a:spcPts val="2100"/>
              </a:spcBef>
              <a:buFont typeface="Arial" panose="020B0604020202020204" pitchFamily="34" charset="0"/>
              <a:buNone/>
              <a:defRPr sz="6720" b="1" kern="1200">
                <a:solidFill>
                  <a:schemeClr val="tx1"/>
                </a:solidFill>
                <a:latin typeface="+mn-lt"/>
                <a:ea typeface="+mn-ea"/>
                <a:cs typeface="+mn-cs"/>
              </a:defRPr>
            </a:lvl6pPr>
            <a:lvl7pPr marL="11521440" indent="0" algn="l" defTabSz="3840480" rtl="0" eaLnBrk="1" latinLnBrk="0" hangingPunct="1">
              <a:lnSpc>
                <a:spcPct val="90000"/>
              </a:lnSpc>
              <a:spcBef>
                <a:spcPts val="2100"/>
              </a:spcBef>
              <a:buFont typeface="Arial" panose="020B0604020202020204" pitchFamily="34" charset="0"/>
              <a:buNone/>
              <a:defRPr sz="6720" b="1" kern="1200">
                <a:solidFill>
                  <a:schemeClr val="tx1"/>
                </a:solidFill>
                <a:latin typeface="+mn-lt"/>
                <a:ea typeface="+mn-ea"/>
                <a:cs typeface="+mn-cs"/>
              </a:defRPr>
            </a:lvl7pPr>
            <a:lvl8pPr marL="13441680" indent="0" algn="l" defTabSz="3840480" rtl="0" eaLnBrk="1" latinLnBrk="0" hangingPunct="1">
              <a:lnSpc>
                <a:spcPct val="90000"/>
              </a:lnSpc>
              <a:spcBef>
                <a:spcPts val="2100"/>
              </a:spcBef>
              <a:buFont typeface="Arial" panose="020B0604020202020204" pitchFamily="34" charset="0"/>
              <a:buNone/>
              <a:defRPr sz="6720" b="1" kern="1200">
                <a:solidFill>
                  <a:schemeClr val="tx1"/>
                </a:solidFill>
                <a:latin typeface="+mn-lt"/>
                <a:ea typeface="+mn-ea"/>
                <a:cs typeface="+mn-cs"/>
              </a:defRPr>
            </a:lvl8pPr>
            <a:lvl9pPr marL="15361920" indent="0" algn="l" defTabSz="3840480" rtl="0" eaLnBrk="1" latinLnBrk="0" hangingPunct="1">
              <a:lnSpc>
                <a:spcPct val="90000"/>
              </a:lnSpc>
              <a:spcBef>
                <a:spcPts val="2100"/>
              </a:spcBef>
              <a:buFont typeface="Arial" panose="020B0604020202020204" pitchFamily="34" charset="0"/>
              <a:buNone/>
              <a:defRPr sz="6720" b="1" kern="1200">
                <a:solidFill>
                  <a:schemeClr val="tx1"/>
                </a:solidFill>
                <a:latin typeface="+mn-lt"/>
                <a:ea typeface="+mn-ea"/>
                <a:cs typeface="+mn-cs"/>
              </a:defRPr>
            </a:lvl9pPr>
          </a:lstStyle>
          <a:p>
            <a:pPr marL="221968" indent="-221968" algn="ctr">
              <a:spcBef>
                <a:spcPts val="696"/>
              </a:spcBef>
              <a:buSzPct val="100000"/>
            </a:pPr>
            <a:r>
              <a:rPr lang="en-US" sz="1600" dirty="0">
                <a:latin typeface="Calibri" panose="020F0502020204030204" pitchFamily="34" charset="0"/>
                <a:ea typeface="Calibri" panose="020F0502020204030204" pitchFamily="34" charset="0"/>
                <a:cs typeface="Calibri" panose="020F0502020204030204" pitchFamily="34" charset="0"/>
              </a:rPr>
              <a:t>Acknowledgements</a:t>
            </a:r>
          </a:p>
          <a:p>
            <a:pPr marL="221968" indent="-221968">
              <a:spcBef>
                <a:spcPts val="696"/>
              </a:spcBef>
              <a:buSzPct val="100000"/>
            </a:pPr>
            <a:r>
              <a:rPr lang="en-US" sz="1392" b="0" dirty="0"/>
              <a:t>We would like to acknowledge our professor Dr. </a:t>
            </a:r>
            <a:r>
              <a:rPr lang="en-US" sz="1392" b="0" dirty="0" err="1"/>
              <a:t>Ntatin</a:t>
            </a:r>
            <a:r>
              <a:rPr lang="en-US" sz="1392" b="0" dirty="0"/>
              <a:t> for his help in guiding us through this project.</a:t>
            </a:r>
          </a:p>
        </p:txBody>
      </p:sp>
      <p:pic>
        <p:nvPicPr>
          <p:cNvPr id="1028" name="Picture 4">
            <a:extLst>
              <a:ext uri="{FF2B5EF4-FFF2-40B4-BE49-F238E27FC236}">
                <a16:creationId xmlns:a16="http://schemas.microsoft.com/office/drawing/2014/main" id="{96D66B77-83AA-7083-6D52-018E52092A7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2869" y="25359935"/>
            <a:ext cx="11064052" cy="606815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444FC6D9-FF4F-C8E1-E4CA-7274E7A13A2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28829" y="13374477"/>
            <a:ext cx="5693202" cy="83563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B40E04EC-27FA-DE70-B77D-144B2C50D39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65676" y="10992287"/>
            <a:ext cx="8890405" cy="832015"/>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9D42127F-A6CF-AA53-29CE-0600DC5A84CA}"/>
              </a:ext>
            </a:extLst>
          </p:cNvPr>
          <p:cNvSpPr txBox="1"/>
          <p:nvPr/>
        </p:nvSpPr>
        <p:spPr>
          <a:xfrm>
            <a:off x="12259950" y="9795626"/>
            <a:ext cx="1466555" cy="369332"/>
          </a:xfrm>
          <a:prstGeom prst="rect">
            <a:avLst/>
          </a:prstGeom>
          <a:noFill/>
        </p:spPr>
        <p:txBody>
          <a:bodyPr wrap="none" rtlCol="0">
            <a:spAutoFit/>
          </a:bodyPr>
          <a:lstStyle/>
          <a:p>
            <a:r>
              <a:rPr lang="en-US" dirty="0"/>
              <a:t>(a). 37 Points</a:t>
            </a:r>
          </a:p>
        </p:txBody>
      </p:sp>
      <p:sp>
        <p:nvSpPr>
          <p:cNvPr id="17" name="TextBox 16">
            <a:extLst>
              <a:ext uri="{FF2B5EF4-FFF2-40B4-BE49-F238E27FC236}">
                <a16:creationId xmlns:a16="http://schemas.microsoft.com/office/drawing/2014/main" id="{262B2C72-DEA6-019B-6F93-73C0D503B2C3}"/>
              </a:ext>
            </a:extLst>
          </p:cNvPr>
          <p:cNvSpPr txBox="1"/>
          <p:nvPr/>
        </p:nvSpPr>
        <p:spPr>
          <a:xfrm>
            <a:off x="20934727" y="9795626"/>
            <a:ext cx="1473545" cy="369332"/>
          </a:xfrm>
          <a:prstGeom prst="rect">
            <a:avLst/>
          </a:prstGeom>
          <a:noFill/>
        </p:spPr>
        <p:txBody>
          <a:bodyPr wrap="none" rtlCol="0">
            <a:spAutoFit/>
          </a:bodyPr>
          <a:lstStyle/>
          <a:p>
            <a:r>
              <a:rPr lang="en-US" dirty="0"/>
              <a:t>(b). 73 Points</a:t>
            </a:r>
          </a:p>
        </p:txBody>
      </p:sp>
      <p:sp>
        <p:nvSpPr>
          <p:cNvPr id="19" name="TextBox 18">
            <a:extLst>
              <a:ext uri="{FF2B5EF4-FFF2-40B4-BE49-F238E27FC236}">
                <a16:creationId xmlns:a16="http://schemas.microsoft.com/office/drawing/2014/main" id="{56444DD3-E7DE-A58D-6447-5B770ED74092}"/>
              </a:ext>
            </a:extLst>
          </p:cNvPr>
          <p:cNvSpPr txBox="1"/>
          <p:nvPr/>
        </p:nvSpPr>
        <p:spPr>
          <a:xfrm>
            <a:off x="29623484" y="9821677"/>
            <a:ext cx="1588961" cy="369332"/>
          </a:xfrm>
          <a:prstGeom prst="rect">
            <a:avLst/>
          </a:prstGeom>
          <a:noFill/>
        </p:spPr>
        <p:txBody>
          <a:bodyPr wrap="none" rtlCol="0">
            <a:spAutoFit/>
          </a:bodyPr>
          <a:lstStyle/>
          <a:p>
            <a:r>
              <a:rPr lang="en-US" dirty="0"/>
              <a:t>(c). 361 Points</a:t>
            </a:r>
          </a:p>
        </p:txBody>
      </p:sp>
      <p:sp>
        <p:nvSpPr>
          <p:cNvPr id="21" name="TextBox 20">
            <a:extLst>
              <a:ext uri="{FF2B5EF4-FFF2-40B4-BE49-F238E27FC236}">
                <a16:creationId xmlns:a16="http://schemas.microsoft.com/office/drawing/2014/main" id="{BC611AC5-6864-B9D1-93DA-91BB20819141}"/>
              </a:ext>
            </a:extLst>
          </p:cNvPr>
          <p:cNvSpPr txBox="1"/>
          <p:nvPr/>
        </p:nvSpPr>
        <p:spPr>
          <a:xfrm>
            <a:off x="16292494" y="17490422"/>
            <a:ext cx="449162" cy="369332"/>
          </a:xfrm>
          <a:prstGeom prst="rect">
            <a:avLst/>
          </a:prstGeom>
          <a:noFill/>
        </p:spPr>
        <p:txBody>
          <a:bodyPr wrap="none" rtlCol="0">
            <a:spAutoFit/>
          </a:bodyPr>
          <a:lstStyle/>
          <a:p>
            <a:r>
              <a:rPr lang="en-US" dirty="0"/>
              <a:t>(d)</a:t>
            </a:r>
          </a:p>
        </p:txBody>
      </p:sp>
      <p:sp>
        <p:nvSpPr>
          <p:cNvPr id="23" name="TextBox 22">
            <a:extLst>
              <a:ext uri="{FF2B5EF4-FFF2-40B4-BE49-F238E27FC236}">
                <a16:creationId xmlns:a16="http://schemas.microsoft.com/office/drawing/2014/main" id="{DFF0E4A1-7323-56B6-25FC-277D33697BCE}"/>
              </a:ext>
            </a:extLst>
          </p:cNvPr>
          <p:cNvSpPr txBox="1"/>
          <p:nvPr/>
        </p:nvSpPr>
        <p:spPr>
          <a:xfrm>
            <a:off x="25466040" y="17490422"/>
            <a:ext cx="513468" cy="369332"/>
          </a:xfrm>
          <a:prstGeom prst="rect">
            <a:avLst/>
          </a:prstGeom>
          <a:noFill/>
        </p:spPr>
        <p:txBody>
          <a:bodyPr wrap="square" rtlCol="0">
            <a:spAutoFit/>
          </a:bodyPr>
          <a:lstStyle/>
          <a:p>
            <a:r>
              <a:rPr lang="en-US" dirty="0"/>
              <a:t>(e)</a:t>
            </a:r>
          </a:p>
        </p:txBody>
      </p:sp>
      <p:sp>
        <p:nvSpPr>
          <p:cNvPr id="25" name="TextBox 24">
            <a:extLst>
              <a:ext uri="{FF2B5EF4-FFF2-40B4-BE49-F238E27FC236}">
                <a16:creationId xmlns:a16="http://schemas.microsoft.com/office/drawing/2014/main" id="{B5CC12C7-D13F-3950-E27A-E8650983D3E3}"/>
              </a:ext>
            </a:extLst>
          </p:cNvPr>
          <p:cNvSpPr txBox="1"/>
          <p:nvPr/>
        </p:nvSpPr>
        <p:spPr>
          <a:xfrm>
            <a:off x="23573053" y="25881359"/>
            <a:ext cx="4299442" cy="523220"/>
          </a:xfrm>
          <a:prstGeom prst="rect">
            <a:avLst/>
          </a:prstGeom>
          <a:noFill/>
        </p:spPr>
        <p:txBody>
          <a:bodyPr wrap="square" rtlCol="0">
            <a:spAutoFit/>
          </a:bodyPr>
          <a:lstStyle/>
          <a:p>
            <a:pPr algn="ctr"/>
            <a:r>
              <a:rPr lang="en-US" sz="2800" b="1" dirty="0">
                <a:latin typeface="Calibri" panose="020F0502020204030204" pitchFamily="34" charset="0"/>
                <a:ea typeface="Calibri" panose="020F0502020204030204" pitchFamily="34" charset="0"/>
                <a:cs typeface="Calibri" panose="020F0502020204030204" pitchFamily="34" charset="0"/>
              </a:rPr>
              <a:t>Future Work</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6017</TotalTime>
  <Words>2340</Words>
  <Application>Microsoft Macintosh PowerPoint</Application>
  <PresentationFormat>Custom</PresentationFormat>
  <Paragraphs>85</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Calibri</vt:lpstr>
      <vt:lpstr>Cambria Math</vt:lpstr>
      <vt:lpstr>Office Theme</vt:lpstr>
      <vt:lpstr>Comparing Six Methods for Determining the Refractive Index of a Glass Prism Using a Multi-Wavelength Laser and a Versatile Optical Setup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Campagna</dc:creator>
  <cp:lastModifiedBy>Thomas Campagna</cp:lastModifiedBy>
  <cp:revision>9</cp:revision>
  <dcterms:created xsi:type="dcterms:W3CDTF">2026-03-31T18:43:39Z</dcterms:created>
  <dcterms:modified xsi:type="dcterms:W3CDTF">2026-04-04T23:01:34Z</dcterms:modified>
</cp:coreProperties>
</file>